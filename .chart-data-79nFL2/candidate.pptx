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680bf984610455d" /><Relationship Type="http://schemas.openxmlformats.org/officeDocument/2006/relationships/extended-properties" Target="/docProps/app.xml" Id="Rd8052812f8874899" /><Relationship Type="http://schemas.openxmlformats.org/officeDocument/2006/relationships/officeDocument" Target="/ppt/presentation.xml" Id="Rd3db1c8d00774b8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7400e96b6004ff0"/>
  </p:sldMasterIdLst>
  <p:notesMasterIdLst>
    <p:notesMasterId xmlns:r="http://schemas.openxmlformats.org/officeDocument/2006/relationships" r:id="Rc17621c12e4f4e4b"/>
  </p:notesMasterIdLst>
  <p:sldIdLst>
    <p:sldId xmlns:r="http://schemas.openxmlformats.org/officeDocument/2006/relationships" id="256" r:id="R10510d613f274c1b"/>
    <p:sldId xmlns:r="http://schemas.openxmlformats.org/officeDocument/2006/relationships" id="257" r:id="Ra14de89c78dd43e8"/>
    <p:sldId xmlns:r="http://schemas.openxmlformats.org/officeDocument/2006/relationships" id="258" r:id="Ra99a7238db944761"/>
    <p:sldId xmlns:r="http://schemas.openxmlformats.org/officeDocument/2006/relationships" id="259" r:id="Rbf34b4cfaa964742"/>
    <p:sldId xmlns:r="http://schemas.openxmlformats.org/officeDocument/2006/relationships" id="260" r:id="R144dbc25fad140d7"/>
    <p:sldId xmlns:r="http://schemas.openxmlformats.org/officeDocument/2006/relationships" id="261" r:id="R560814bc9f2f4efc"/>
    <p:sldId xmlns:r="http://schemas.openxmlformats.org/officeDocument/2006/relationships" id="262" r:id="R5247587de47d48ee"/>
    <p:sldId xmlns:r="http://schemas.openxmlformats.org/officeDocument/2006/relationships" id="263" r:id="R97a780b399c04454"/>
    <p:sldId xmlns:r="http://schemas.openxmlformats.org/officeDocument/2006/relationships" id="264" r:id="Rbc70f4707e704d54"/>
    <p:sldId xmlns:r="http://schemas.openxmlformats.org/officeDocument/2006/relationships" id="265" r:id="R15b3da482b0f4f93"/>
    <p:sldId xmlns:r="http://schemas.openxmlformats.org/officeDocument/2006/relationships" id="266" r:id="R848d6e47fae74f04"/>
    <p:sldId xmlns:r="http://schemas.openxmlformats.org/officeDocument/2006/relationships" id="267" r:id="R8921c4cd573549af"/>
  </p:sldIdLst>
  <p:sldSz cx="9144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e4b7585dc16410c" /><Relationship Type="http://schemas.openxmlformats.org/officeDocument/2006/relationships/slideMaster" Target="/ppt/slideMasters/slideMaster1.xml" Id="Rc7400e96b6004ff0" /><Relationship Type="http://schemas.openxmlformats.org/officeDocument/2006/relationships/notesMaster" Target="/ppt/notesMasters/notesMaster1.xml" Id="Rc17621c12e4f4e4b" /><Relationship Type="http://schemas.openxmlformats.org/officeDocument/2006/relationships/presProps" Target="/ppt/presProps.xml" Id="R11fe60ad5c574b71" /><Relationship Type="http://schemas.openxmlformats.org/officeDocument/2006/relationships/tableStyles" Target="/ppt/tableStyles.xml" Id="Rbddf59f8c42c4fe7" /><Relationship Type="http://schemas.openxmlformats.org/officeDocument/2006/relationships/slide" Target="/ppt/slides/slide1.xml" Id="R10510d613f274c1b" /><Relationship Type="http://schemas.openxmlformats.org/officeDocument/2006/relationships/slide" Target="/ppt/slides/slide2.xml" Id="Ra14de89c78dd43e8" /><Relationship Type="http://schemas.openxmlformats.org/officeDocument/2006/relationships/slide" Target="/ppt/slides/slide3.xml" Id="Ra99a7238db944761" /><Relationship Type="http://schemas.openxmlformats.org/officeDocument/2006/relationships/slide" Target="/ppt/slides/slide4.xml" Id="Rbf34b4cfaa964742" /><Relationship Type="http://schemas.openxmlformats.org/officeDocument/2006/relationships/slide" Target="/ppt/slides/slide5.xml" Id="R144dbc25fad140d7" /><Relationship Type="http://schemas.openxmlformats.org/officeDocument/2006/relationships/slide" Target="/ppt/slides/slide6.xml" Id="R560814bc9f2f4efc" /><Relationship Type="http://schemas.openxmlformats.org/officeDocument/2006/relationships/slide" Target="/ppt/slides/slide7.xml" Id="R5247587de47d48ee" /><Relationship Type="http://schemas.openxmlformats.org/officeDocument/2006/relationships/slide" Target="/ppt/slides/slide8.xml" Id="R97a780b399c04454" /><Relationship Type="http://schemas.openxmlformats.org/officeDocument/2006/relationships/slide" Target="/ppt/slides/slide9.xml" Id="Rbc70f4707e704d54" /><Relationship Type="http://schemas.openxmlformats.org/officeDocument/2006/relationships/slide" Target="/ppt/slides/slide10.xml" Id="R15b3da482b0f4f93" /><Relationship Type="http://schemas.openxmlformats.org/officeDocument/2006/relationships/slide" Target="/ppt/slides/slide11.xml" Id="R848d6e47fae74f04" /><Relationship Type="http://schemas.openxmlformats.org/officeDocument/2006/relationships/slide" Target="/ppt/slides/slide12.xml" Id="R8921c4cd573549a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53b4dc4618d4d5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f5ed1cb9ebf473c" /><Relationship Type="http://schemas.openxmlformats.org/officeDocument/2006/relationships/notesMaster" Target="/ppt/notesMasters/notesMaster1.xml" Id="R172e1dccbf314e2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4c0e0038da844ff" /><Relationship Type="http://schemas.openxmlformats.org/officeDocument/2006/relationships/notesMaster" Target="/ppt/notesMasters/notesMaster1.xml" Id="Rdca23eefb9634b9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cb1e2e47b1b43e5" /><Relationship Type="http://schemas.openxmlformats.org/officeDocument/2006/relationships/notesMaster" Target="/ppt/notesMasters/notesMaster1.xml" Id="R3bdeade7cbc1461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1dd3a696eba4850" /><Relationship Type="http://schemas.openxmlformats.org/officeDocument/2006/relationships/notesMaster" Target="/ppt/notesMasters/notesMaster1.xml" Id="Rbbd3542c47ab4c7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e39de1743ea43d1" /><Relationship Type="http://schemas.openxmlformats.org/officeDocument/2006/relationships/notesMaster" Target="/ppt/notesMasters/notesMaster1.xml" Id="Rceb85056bc044ae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de351207d0646e2" /><Relationship Type="http://schemas.openxmlformats.org/officeDocument/2006/relationships/notesMaster" Target="/ppt/notesMasters/notesMaster1.xml" Id="Re982ec31b87b448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55d6606ece949dd" /><Relationship Type="http://schemas.openxmlformats.org/officeDocument/2006/relationships/notesMaster" Target="/ppt/notesMasters/notesMaster1.xml" Id="Rbf0a03da7e7c4f2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3edaa4413c4460e" /><Relationship Type="http://schemas.openxmlformats.org/officeDocument/2006/relationships/notesMaster" Target="/ppt/notesMasters/notesMaster1.xml" Id="Rfb89cb1cf0b8452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ce3d9d5796e4431" /><Relationship Type="http://schemas.openxmlformats.org/officeDocument/2006/relationships/notesMaster" Target="/ppt/notesMasters/notesMaster1.xml" Id="Rf17b98c51d23411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d215cc6c5944baa" /><Relationship Type="http://schemas.openxmlformats.org/officeDocument/2006/relationships/notesMaster" Target="/ppt/notesMasters/notesMaster1.xml" Id="R5a1c1d105cc0406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cca936ad490419e" /><Relationship Type="http://schemas.openxmlformats.org/officeDocument/2006/relationships/notesMaster" Target="/ppt/notesMasters/notesMaster1.xml" Id="R812fb90152a84be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e8e7b2d843f43c2" /><Relationship Type="http://schemas.openxmlformats.org/officeDocument/2006/relationships/notesMaster" Target="/ppt/notesMasters/notesMaster1.xml" Id="R8238821f542240d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Sāku ar ļoti īsu rāmi: šis nav gala normatīvais instruments, bet pirmais aizstāvamais pilots.</a:t>
            </a:r>
          </a:p>
          <a:p xmlns:a="http://schemas.openxmlformats.org/drawingml/2006/main">
            <a:r>
              <a:t>Mērķis sapulcei ir parādīt, kādus datus esmu atradis, kā esmu tos salicis vienā ķēdē un kā jau darbojas karte.</a:t>
            </a:r>
          </a:p>
          <a:p xmlns:a="http://schemas.openxmlformats.org/drawingml/2006/main">
            <a:r>
              <a:t>Lūgums ZM pusē būs palīdzēt nofiksēt metodikas un normatīvos jautājumus, lai pilotu var pārvērst oficiāli izmantojamā rīkā.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Šeit varu pateikt: esmu koncentrējies uz to, kas vajadzīgs pirmajai sapulcei, nevis uz pilnu gala sistēmu.</a:t>
            </a:r>
          </a:p>
          <a:p xmlns:a="http://schemas.openxmlformats.org/drawingml/2006/main">
            <a:r>
              <a:t>Svarīgākais ir pierādīt datu ķēdi. Mums jau ir kartes prototips, kur lietotājs izvēlas datumu, redz pašvaldības kopējo risku un var atvērt 1 km detalizāciju.</a:t>
            </a:r>
          </a:p>
          <a:p xmlns:a="http://schemas.openxmlformats.org/drawingml/2006/main">
            <a:r>
              <a:t>Skaitļi šajā slaidā nāk no pašreizējā frontend datu laidiena.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Avoti:</a:t>
            </a:r>
          </a:p>
          <a:p xmlns:a="http://schemas.openxmlformats.org/drawingml/2006/main">
            <a:r>
              <a:t>C:/Users/deniss.boka/Downloads/Darbu_plans.xlsx</a:t>
            </a:r>
          </a:p>
          <a:p xmlns:a="http://schemas.openxmlformats.org/drawingml/2006/main">
            <a:r>
              <a:t>C:/Users/deniss.boka/MESLI_PROJECT/KIRI/GRID_SAGATAVE/frontend/data/data_metadata.json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Šo slaidu izmantoju, lai ātri piesaistītu prezentāciju darba plānam.</a:t>
            </a:r>
          </a:p>
          <a:p xmlns:a="http://schemas.openxmlformats.org/drawingml/2006/main">
            <a:r>
              <a:t>Es nerunāju abstrakti par satelītiem. Katru darba plāna punktu mēģinu sasaistīt ar kaut ko, ko var parādīt prototipā.</a:t>
            </a:r>
          </a:p>
          <a:p xmlns:a="http://schemas.openxmlformats.org/drawingml/2006/main">
            <a:r>
              <a:t>3.1 un 3.2 vēl ir nākamais metodiskais posms: vajag vēsturisko references periodu un sliekšņu saskaņošanu ar monitoringa datiem.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Avoti:</a:t>
            </a:r>
          </a:p>
          <a:p xmlns:a="http://schemas.openxmlformats.org/drawingml/2006/main">
            <a:r>
              <a:t>C:/Users/deniss.boka/Downloads/Darbu_plans.xlsx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Galvenais vēstījums: mums nav jāizdomā datu pasaule no nulles. Ir trīs praktiski avoti pirmajai versijai: nokrišņi, H-SAF SSM un Copernicus SWI.</a:t>
            </a:r>
          </a:p>
          <a:p xmlns:a="http://schemas.openxmlformats.org/drawingml/2006/main">
            <a:r>
              <a:t>H-SAF dod neatkarīgu virsmas mitruma signālu. Copernicus SWI dod ikdienas 1 km Eiropas produktu, kas ir ļoti ērts operacionālai kartei.</a:t>
            </a:r>
          </a:p>
          <a:p xmlns:a="http://schemas.openxmlformats.org/drawingml/2006/main">
            <a:r>
              <a:t>Stacijas un LBTU dati vajadzīgi ne tikai papildu slāņiem, bet arī uzticamai validācijai.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Avoti:</a:t>
            </a:r>
          </a:p>
          <a:p xmlns:a="http://schemas.openxmlformats.org/drawingml/2006/main">
            <a:r>
              <a:t>EUMETSAT H28 catalog: https://user.eumetsat.int/catalogue/EO:EUM:DAT:1032</a:t>
            </a:r>
          </a:p>
          <a:p xmlns:a="http://schemas.openxmlformats.org/drawingml/2006/main">
            <a:r>
              <a:t>EUMETSAT H28 EUMETCast notice: https://user.eumetsat.int/news-events/news/new-h-saf-ascat-surface-soil-moisture-h28-product-on-eumet-cast</a:t>
            </a:r>
          </a:p>
          <a:p xmlns:a="http://schemas.openxmlformats.org/drawingml/2006/main">
            <a:r>
              <a:t>EUMETSAT H29 EUMETCast notice: https://user.eumetsat.int/news-events/news/new-h-saf-ascat-surface-soil-moisture-h29-product-on-eumet-cast</a:t>
            </a:r>
          </a:p>
          <a:p xmlns:a="http://schemas.openxmlformats.org/drawingml/2006/main">
            <a:r>
              <a:t>H-SAF soil moisture: https://hsaf.meteoam.it/products/soil-moisture</a:t>
            </a:r>
          </a:p>
          <a:p xmlns:a="http://schemas.openxmlformats.org/drawingml/2006/main">
            <a:r>
              <a:t>Copernicus SWI v2: https://land.copernicus.eu/en/products/soil-moisture/daily-soil-water-index-europe-1km-v2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Šis ir tehniskais slaids, bet to var izstāstīt vienkārši: dati ienāk no avotiem, tiek salikti vienā režģī, aprēķināti un publicēti kartē.</a:t>
            </a:r>
          </a:p>
          <a:p xmlns:a="http://schemas.openxmlformats.org/drawingml/2006/main">
            <a:r>
              <a:t>Ļoti svarīgi ZM sapulcei: rīks nav vienreizēja bilde. Tas ir datu process, ko var atkārtot katru dienu.</a:t>
            </a:r>
          </a:p>
          <a:p xmlns:a="http://schemas.openxmlformats.org/drawingml/2006/main">
            <a:r>
              <a:t>Pašreizējā arhitektūra samazina failu apjomu, jo ģeometrija nav jāglabā katram datumam no jauna.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Avoti:</a:t>
            </a:r>
          </a:p>
          <a:p xmlns:a="http://schemas.openxmlformats.org/drawingml/2006/main">
            <a:r>
              <a:t>C:/Users/deniss.boka/MESLI_PROJECT/KIRI/GRID_SAGATAVE/ARCHITECTURE.md</a:t>
            </a:r>
          </a:p>
          <a:p xmlns:a="http://schemas.openxmlformats.org/drawingml/2006/main">
            <a:r>
              <a:t>C:/Users/deniss.boka/MESLI_PROJECT/KIRI/GRID_SAGATAVE/README.md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Šo slaidu izmantoju, lai parādītu, ka no prototipa datiem var iegūt arī analītiku, ne tikai karti.</a:t>
            </a:r>
          </a:p>
          <a:p xmlns:a="http://schemas.openxmlformats.org/drawingml/2006/main">
            <a:r>
              <a:t>Izvēlēti daži datumi no 60 dienu loga, lai redzētu dinamiku. Precīzākai metodikai vēl jāiet uz vēsturisko references periodu.</a:t>
            </a:r>
          </a:p>
          <a:p xmlns:a="http://schemas.openxmlformats.org/drawingml/2006/main">
            <a:r>
              <a:t>2026-09-06 93 procenti redzamo šūnu ir 4. vai 5. līmenī. Tas nav juridisks aizliegums, bet riska signāls pēc pašreizējās pilotmetodikas.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Avoti:</a:t>
            </a:r>
          </a:p>
          <a:p xmlns:a="http://schemas.openxmlformats.org/drawingml/2006/main">
            <a:r>
              <a:t>C:/Users/deniss.boka/MESLI_PROJECT/KIRI/GRID_SAGATAVE/frontend/data/calendar_manifest.json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Šajā brīdī sapulcē var atvērt saiti un parādīt dzīvo prototipu.</a:t>
            </a:r>
          </a:p>
          <a:p xmlns:a="http://schemas.openxmlformats.org/drawingml/2006/main">
            <a:r>
              <a:t>Es sāku no Latvijas kartes. Te nav sarežģītu slāņu pārslēgu. Mērķis ir, lai lietotājs uzreiz saprot, kur šodien vai izvēlētajā datumā ir augstāks risks.</a:t>
            </a:r>
          </a:p>
          <a:p xmlns:a="http://schemas.openxmlformats.org/drawingml/2006/main">
            <a:r>
              <a:t>Datuma izvēlē redzams arī kvalitātes signāls. Ja SWI kavējas, rīks to parāda.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Avoti:</a:t>
            </a:r>
          </a:p>
          <a:p xmlns:a="http://schemas.openxmlformats.org/drawingml/2006/main">
            <a:r>
              <a:t>https://dboka.github.io/KIRI/</a:t>
            </a:r>
          </a:p>
          <a:p xmlns:a="http://schemas.openxmlformats.org/drawingml/2006/main">
            <a:r>
              <a:t>Lokālais ekrānattēls no GRID_SAGATAVE/frontend, uzņemts 2026-09-07.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Šis ir praktiskākais slaids. Te parādu, ka karte nav tikai pašvaldības vidējā vērtība.</a:t>
            </a:r>
          </a:p>
          <a:p xmlns:a="http://schemas.openxmlformats.org/drawingml/2006/main">
            <a:r>
              <a:t>Klikšķis uz novada atver grid skatu. Klikšķis uz šūnas parāda konkrētos indikatorus un iemeslus.</a:t>
            </a:r>
          </a:p>
          <a:p xmlns:a="http://schemas.openxmlformats.org/drawingml/2006/main">
            <a:r>
              <a:t>Tas palīdz aizstāvēt pieeju: lēmumu var komunicēt pašvaldību līmenī, bet aprēķinu turēt telpiski detalizētu.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Avoti:</a:t>
            </a:r>
          </a:p>
          <a:p xmlns:a="http://schemas.openxmlformats.org/drawingml/2006/main">
            <a:r>
              <a:t>Lokālais ekrānattēls no GRID_SAGATAVE/frontend, uzņemts 2026-09-07.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Šeit necenšos pārdot sliekšņus kā galīgus. Godīgi saku: pilotā ir strādājoša loģika, kas ļauj testēt rezultātu.</a:t>
            </a:r>
          </a:p>
          <a:p xmlns:a="http://schemas.openxmlformats.org/drawingml/2006/main">
            <a:r>
              <a:t>Nākamais zinātniskais darbs ir robežvērtības. Tās jānosaka no vēsturiskajiem datiem, stacijām un monitoringa rezultātiem.</a:t>
            </a:r>
          </a:p>
          <a:p xmlns:a="http://schemas.openxmlformats.org/drawingml/2006/main">
            <a:r>
              <a:t>Manuprāt, ZM sapulcē tas ir jāpārvērš par darba uzdevumu, nevis par strīdu par vienu konkrētu skaitli.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Avoti:</a:t>
            </a:r>
          </a:p>
          <a:p xmlns:a="http://schemas.openxmlformats.org/drawingml/2006/main">
            <a:r>
              <a:t>C:/Users/deniss.boka/MESLI_PROJECT/KIRI/GRID_SAGATAVE/config/normalization_v01.yaml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Šis ir metodikas slaids. Galvenais teikt: satelītu dati jāvalidē, un pilots jau sagatavo datu struktūru šādai validācijai.</a:t>
            </a:r>
          </a:p>
          <a:p xmlns:a="http://schemas.openxmlformats.org/drawingml/2006/main">
            <a:r>
              <a:t>Salīdzinājumam nevajag tikai vienu punktu kartē. Var lietot tuvāko grid šūnu vai 3x3 apkārtni, lai mazinātu ģeolokācijas un mēroga atšķirības.</a:t>
            </a:r>
          </a:p>
          <a:p xmlns:a="http://schemas.openxmlformats.org/drawingml/2006/main">
            <a:r>
              <a:t>Robežvērtības pārmitrumam un sasalumam jābalsta datos. Juridiskais aizliegums jānodala no riska indeksa.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Šo var lietot kā tiešo demonstrācijas špikeri.</a:t>
            </a:r>
          </a:p>
          <a:p xmlns:a="http://schemas.openxmlformats.org/drawingml/2006/main">
            <a:r>
              <a:t>Es atveru saiti, parādu, ka kartē ir datuma izvēle, tad izvēlos konkrētu pašvaldību un vienu grid šūnu.</a:t>
            </a:r>
          </a:p>
          <a:p xmlns:a="http://schemas.openxmlformats.org/drawingml/2006/main">
            <a:r>
              <a:t>Svarīgi nerunāt pārāk ilgi par katru pogu. Galvenais ir parādīt datu ceļu no avotiem līdz lēmuma atbalstam.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Noslēdzu ar praktiskiem jautājumiem.</a:t>
            </a:r>
          </a:p>
          <a:p xmlns:a="http://schemas.openxmlformats.org/drawingml/2006/main">
            <a:r>
              <a:t>Es prasītu nevis vispārīgu atbalstu, bet konkrētu nākamo soli: validācijas protokols, staciju dati un robežvērtību saskaņošana.</a:t>
            </a:r>
          </a:p>
          <a:p xmlns:a="http://schemas.openxmlformats.org/drawingml/2006/main">
            <a:r>
              <a:t>Tad pilots iegūst skaidru ceļu no demonstrācijas uz izmantojamu metodiku.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5690d047f4404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38a02d0bcdd4706" /><Relationship Type="http://schemas.openxmlformats.org/officeDocument/2006/relationships/slideLayout" Target="/ppt/slideLayouts/slideLayout1.xml" Id="R37a91b72186f468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7a91b72186f468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759704058541b8" /><Relationship Type="http://schemas.openxmlformats.org/officeDocument/2006/relationships/image" Target="/ppt/media/image.png" Id="R26f5b1d8f83b41e9" /><Relationship Type="http://schemas.openxmlformats.org/officeDocument/2006/relationships/notesSlide" Target="/ppt/notesSlides/notesSlide1.xml" Id="Rb3f4fd5a0f1549d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b959a3582843d0" /><Relationship Type="http://schemas.openxmlformats.org/officeDocument/2006/relationships/image" Target="/ppt/media/image2.png" Id="R0edbc03640964a84" /><Relationship Type="http://schemas.openxmlformats.org/officeDocument/2006/relationships/notesSlide" Target="/ppt/notesSlides/notesSlide2.xml" Id="Rb58d236bdea843c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11d4aa59cf4be2" /><Relationship Type="http://schemas.openxmlformats.org/officeDocument/2006/relationships/image" Target="/ppt/media/image3.png" Id="Rfdfafe96acc94a8c" /><Relationship Type="http://schemas.openxmlformats.org/officeDocument/2006/relationships/notesSlide" Target="/ppt/notesSlides/notesSlide3.xml" Id="Ra5f64494baf34ed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dbc228b80e4843" /><Relationship Type="http://schemas.openxmlformats.org/officeDocument/2006/relationships/image" Target="/ppt/media/image4.png" Id="R3afc54a654c74161" /><Relationship Type="http://schemas.openxmlformats.org/officeDocument/2006/relationships/notesSlide" Target="/ppt/notesSlides/notesSlide4.xml" Id="Rf6385f680340436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e12d5e87b84e9f" /><Relationship Type="http://schemas.openxmlformats.org/officeDocument/2006/relationships/image" Target="/ppt/media/image5.png" Id="R3a91603352b043d3" /><Relationship Type="http://schemas.openxmlformats.org/officeDocument/2006/relationships/notesSlide" Target="/ppt/notesSlides/notesSlide5.xml" Id="R488ab294e763482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66e86add9e4d0b" /><Relationship Type="http://schemas.openxmlformats.org/officeDocument/2006/relationships/image" Target="/ppt/media/image6.png" Id="R70a498d52635406d" /><Relationship Type="http://schemas.openxmlformats.org/officeDocument/2006/relationships/chart" Target="/ppt/slides/charts/chart1.xml" Id="R6e9e09061f8e49f8" /><Relationship Type="http://schemas.openxmlformats.org/officeDocument/2006/relationships/notesSlide" Target="/ppt/notesSlides/notesSlide6.xml" Id="Rf595ad03cd1845d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44145b265e43d1" /><Relationship Type="http://schemas.openxmlformats.org/officeDocument/2006/relationships/image" Target="/ppt/media/image7.png" Id="R00fa873ec5414028" /><Relationship Type="http://schemas.openxmlformats.org/officeDocument/2006/relationships/image" Target="/ppt/media/image8.png" Id="Rcb13992eef164ccc" /><Relationship Type="http://schemas.openxmlformats.org/officeDocument/2006/relationships/notesSlide" Target="/ppt/notesSlides/notesSlide7.xml" Id="R5b5d70b27ea2455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32e5571e874074" /><Relationship Type="http://schemas.openxmlformats.org/officeDocument/2006/relationships/image" Target="/ppt/media/image9.png" Id="Rdc4a60f4283c4637" /><Relationship Type="http://schemas.openxmlformats.org/officeDocument/2006/relationships/image" Target="/ppt/media/image10.png" Id="R8f6f74f8ebef45a9" /><Relationship Type="http://schemas.openxmlformats.org/officeDocument/2006/relationships/notesSlide" Target="/ppt/notesSlides/notesSlide8.xml" Id="R355bae0d8097464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accff733564694" /><Relationship Type="http://schemas.openxmlformats.org/officeDocument/2006/relationships/image" Target="/ppt/media/image11.png" Id="R7f4d9b5d52f24911" /><Relationship Type="http://schemas.openxmlformats.org/officeDocument/2006/relationships/notesSlide" Target="/ppt/notesSlides/notesSlide9.xml" Id="Rfdbebf244e1e4c6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40f30a1ae84eef" /><Relationship Type="http://schemas.openxmlformats.org/officeDocument/2006/relationships/image" Target="/ppt/media/image12.png" Id="R948b778afd734d8d" /><Relationship Type="http://schemas.openxmlformats.org/officeDocument/2006/relationships/notesSlide" Target="/ppt/notesSlides/notesSlide10.xml" Id="R4a055466f31d469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273a5eecff49e5" /><Relationship Type="http://schemas.openxmlformats.org/officeDocument/2006/relationships/image" Target="/ppt/media/image13.png" Id="Rd17c709c5aca4680" /><Relationship Type="http://schemas.openxmlformats.org/officeDocument/2006/relationships/notesSlide" Target="/ppt/notesSlides/notesSlide11.xml" Id="Rd71584cdd812406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d7d6d259904136" /><Relationship Type="http://schemas.openxmlformats.org/officeDocument/2006/relationships/image" Target="/ppt/media/image14.png" Id="Rac94524975584c1d" /><Relationship Type="http://schemas.openxmlformats.org/officeDocument/2006/relationships/notesSlide" Target="/ppt/notesSlides/notesSlide12.xml" Id="Rf2b93c0dc0ee4ff4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ser>
          <c:idx val="0"/>
          <c:order val="0"/>
          <c:tx>
            <c:v>Riska 4-5 šūnas, %</c:v>
          </c:tx>
          <c:spPr>
            <a:ln xmlns:a="http://schemas.openxmlformats.org/drawingml/2006/main" w="28575">
              <a:solidFill>
                <a:srgbClr val="F08A4B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F08A4B"/>
              </a:solidFill>
            </c:spPr>
          </c:marker>
          <c:cat>
            <c:strRef>
              <c:f>'Chart Data'!$A$2:$A$6</c:f>
              <c:strCache>
                <c:ptCount val="5"/>
                <c:pt idx="0">
                  <c:v>07-09</c:v>
                </c:pt>
                <c:pt idx="1">
                  <c:v>07-24</c:v>
                </c:pt>
                <c:pt idx="2">
                  <c:v>08-08</c:v>
                </c:pt>
                <c:pt idx="3">
                  <c:v>08-23</c:v>
                </c:pt>
                <c:pt idx="4">
                  <c:v>09-06</c:v>
                </c:pt>
              </c:strCache>
            </c:strRef>
          </c:cat>
          <c:val>
            <c:numRef>
              <c:f>'Chart Data'!$B$2:$B$6</c:f>
              <c:numCache>
                <c:formatCode>0</c:formatCode>
                <c:ptCount val="5"/>
                <c:pt idx="0">
                  <c:v>92</c:v>
                </c:pt>
                <c:pt idx="1">
                  <c:v>69</c:v>
                </c:pt>
                <c:pt idx="2">
                  <c:v>19</c:v>
                </c:pt>
                <c:pt idx="3">
                  <c:v>83</c:v>
                </c:pt>
                <c:pt idx="4">
                  <c:v>93</c:v>
                </c:pt>
              </c:numCache>
            </c:numRef>
          </c:val>
        </c:ser>
        <c:ser>
          <c:idx val="1"/>
          <c:order val="1"/>
          <c:tx>
            <c:v>Riska 5 šūnas, %</c:v>
          </c:tx>
          <c:spPr>
            <a:ln xmlns:a="http://schemas.openxmlformats.org/drawingml/2006/main" w="28575">
              <a:solidFill>
                <a:srgbClr val="C94F44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C94F44"/>
              </a:solidFill>
            </c:spPr>
          </c:marker>
          <c:cat>
            <c:strRef>
              <c:f>'Chart Data'!$C$2:$C$6</c:f>
              <c:strCache>
                <c:ptCount val="5"/>
                <c:pt idx="0">
                  <c:v>07-09</c:v>
                </c:pt>
                <c:pt idx="1">
                  <c:v>07-24</c:v>
                </c:pt>
                <c:pt idx="2">
                  <c:v>08-08</c:v>
                </c:pt>
                <c:pt idx="3">
                  <c:v>08-23</c:v>
                </c:pt>
                <c:pt idx="4">
                  <c:v>09-06</c:v>
                </c:pt>
              </c:strCache>
            </c:strRef>
          </c:cat>
          <c:val>
            <c:numRef>
              <c:f>'Chart Data'!$D$2:$D$6</c:f>
              <c:numCache>
                <c:formatCode>0</c:formatCode>
                <c:ptCount val="5"/>
                <c:pt idx="0">
                  <c:v>3</c:v>
                </c:pt>
                <c:pt idx="1">
                  <c:v>0</c:v>
                </c:pt>
                <c:pt idx="2">
                  <c:v>0</c:v>
                </c:pt>
                <c:pt idx="3">
                  <c:v>43</c:v>
                </c:pt>
                <c:pt idx="4">
                  <c:v>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ED7E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758A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3E8EF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66758A"/>
                    </a:solidFill>
                    <a:latin typeface="Arial"/>
                    <a:ea typeface="Arial"/>
                    <a:cs typeface="Arial"/>
                  </a:rPr>
                  <a:t>% no redzamām šūnām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66758A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6758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00">
              <a:solidFill>
                <a:srgbClr val="66758A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f5b1d8f83b41e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1AF3DE-48AE-4761-B6AD-DDB47D6F8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009650"/>
            <a:ext cx="247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0" i="0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3300" b="0" i="0">
                <a:solidFill>
                  <a:srgbClr val="004B87"/>
                </a:solidFill>
                <a:latin typeface="Arial"/>
                <a:ea typeface="Arial"/>
                <a:cs typeface="Arial"/>
              </a:rPr>
              <a:t>LVĢMC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7D93D2-8075-4A39-B647-AC358B6CD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00400"/>
            <a:ext cx="762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0" i="0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2550" b="0" i="0">
                <a:solidFill>
                  <a:srgbClr val="004B87"/>
                </a:solidFill>
                <a:latin typeface="Arial"/>
                <a:ea typeface="Arial"/>
                <a:cs typeface="Arial"/>
              </a:rPr>
              <a:t>Kūtsmēslu izkliedes riska karte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A315EB-2637-4D05-9493-BAEF2ACA4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90950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6758A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6758A"/>
                </a:solidFill>
                <a:latin typeface="Arial"/>
                <a:ea typeface="Arial"/>
                <a:cs typeface="Arial"/>
              </a:rPr>
              <a:t>KIRI-LV pilotprojekts. Sagatavošanās sarunai ar Zemkopības ministriju 09.09.2026</a:t>
            </a:r>
          </a:p>
        </p:txBody>
      </p:sp>
    </p:spTree>
    <p:extLst>
      <p:ext uri="{BB962C8B-B14F-4D97-AF65-F5344CB8AC3E}">
        <p14:creationId xmlns:p14="http://schemas.microsoft.com/office/powerpoint/2010/main" val="48243901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dbc03640964a8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961B7B-8FAD-419B-AC16-B8226F7A9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8795A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8795AD"/>
                </a:solidFill>
                <a:latin typeface="Arial"/>
                <a:ea typeface="Arial"/>
                <a:cs typeface="Arial"/>
              </a:rPr>
              <a:t>KIRI-LV pilots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D45E60-69B4-47D8-B7AC-C82EABD45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5151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8795A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8795AD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BA50C7-3664-416B-B259-8D2EFD5F5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90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04B87"/>
                </a:solidFill>
                <a:latin typeface="Arial"/>
                <a:ea typeface="Arial"/>
                <a:cs typeface="Arial"/>
              </a:rPr>
              <a:t>Kas jau ir apkopots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C4A0AB-BF63-4888-8C9F-4CC67C12E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6690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58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58A"/>
                </a:solidFill>
                <a:latin typeface="Arial"/>
                <a:ea typeface="Arial"/>
                <a:cs typeface="Arial"/>
              </a:rPr>
              <a:t>Stāsts sapulcei: dati, aprēķins un demonstrējams karšu rīks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C9BA04-FEC7-4B66-B248-DBB66E58B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004B87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BA9B81-2C5C-463E-A10D-842867650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58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6758A"/>
                </a:solidFill>
                <a:latin typeface="Arial"/>
                <a:ea typeface="Arial"/>
                <a:cs typeface="Arial"/>
              </a:rPr>
              <a:t>dienu ripojošs kalendārs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0C5FD6-9CE9-4AB1-94A5-448124107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60985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004B87"/>
                </a:solidFill>
                <a:latin typeface="Arial"/>
                <a:ea typeface="Arial"/>
                <a:cs typeface="Arial"/>
              </a:rPr>
              <a:t>43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574CFD-0370-4E09-BBEF-BB94E1DBA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0670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58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6758A"/>
                </a:solidFill>
                <a:latin typeface="Arial"/>
                <a:ea typeface="Arial"/>
                <a:cs typeface="Arial"/>
              </a:rPr>
              <a:t>pašvaldības pārskata kartē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F46C85-60A8-493D-B677-24D816AD5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098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004B87"/>
                </a:solidFill>
                <a:latin typeface="Arial"/>
                <a:ea typeface="Arial"/>
                <a:cs typeface="Arial"/>
              </a:rPr>
              <a:t>1 km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63485E-7EC3-4ABC-AAE3-BF73BA80E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670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58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6758A"/>
                </a:solidFill>
                <a:latin typeface="Arial"/>
                <a:ea typeface="Arial"/>
                <a:cs typeface="Arial"/>
              </a:rPr>
              <a:t>detalizētais aprēķina režģis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6D4B29-B012-48A2-BDAB-06F01E6EE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38550"/>
            <a:ext cx="781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7CC1E2-4DE3-4C16-86DE-597A2476E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7524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93617"/>
          </a:bodyPr>
          <a:lstStyle xmlns:a="http://schemas.openxmlformats.org/drawingml/2006/main"/>
          <a:p xmlns:a="http://schemas.openxmlformats.org/drawingml/2006/main">
            <a:pPr marL="228600" indent="-101600">
              <a:spcAft>
                <a:spcPts val="900"/>
              </a:spcAft>
              <a:buChar char="•"/>
              <a:defRPr sz="150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42735"/>
                </a:solidFill>
                <a:latin typeface="Arial"/>
                <a:ea typeface="Arial"/>
                <a:cs typeface="Arial"/>
              </a:rPr>
              <a:t>Darba plāna satelītu bloks 2.1-2.4 jau sasaistīts ar H-SAF, Copernicus SWI un CLIDATA nokrišņu indikatoriem.</a:t>
            </a:r>
          </a:p>
          <a:p xmlns:a="http://schemas.openxmlformats.org/drawingml/2006/main">
            <a:pPr marL="228600" indent="-101600">
              <a:spcAft>
                <a:spcPts val="900"/>
              </a:spcAft>
              <a:buChar char="•"/>
              <a:defRPr sz="150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42735"/>
                </a:solidFill>
                <a:latin typeface="Arial"/>
                <a:ea typeface="Arial"/>
                <a:cs typeface="Arial"/>
              </a:rPr>
              <a:t>Pilotā dati tiek normalizēti vienotā 1 km telpiskā režģī un rādīti pašvaldību līmenī ar iespēju atvērt grid skatu.</a:t>
            </a:r>
          </a:p>
          <a:p xmlns:a="http://schemas.openxmlformats.org/drawingml/2006/main">
            <a:pPr marL="228600" indent="-101600">
              <a:spcAft>
                <a:spcPts val="900"/>
              </a:spcAft>
              <a:buChar char="•"/>
              <a:defRPr sz="150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42735"/>
                </a:solidFill>
                <a:latin typeface="Arial"/>
                <a:ea typeface="Arial"/>
                <a:cs typeface="Arial"/>
              </a:rPr>
              <a:t>Rīks jau atdala riska līmeni, aktīvos iemeslus, konteksta iemeslus un datu pārliecības līmeni.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DCB784-FCC3-455F-80DE-06AE589A6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38875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A94A8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8A94A8"/>
                </a:solidFill>
                <a:latin typeface="Arial"/>
                <a:ea typeface="Arial"/>
                <a:cs typeface="Arial"/>
              </a:rPr>
              <a:t>Iekšējie avoti: Darbu_plans.xlsx, KIRI-LV projekta dokuments, GRID_SAGATAVE/frontend/data/data_metadata.json</a:t>
            </a:r>
          </a:p>
        </p:txBody>
      </p:sp>
    </p:spTree>
    <p:extLst>
      <p:ext uri="{BB962C8B-B14F-4D97-AF65-F5344CB8AC3E}">
        <p14:creationId xmlns:p14="http://schemas.microsoft.com/office/powerpoint/2010/main" val="154167335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fafe96acc94a8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2E387E-7DA7-431F-B2CE-C6BF8A2F6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8795A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8795AD"/>
                </a:solidFill>
                <a:latin typeface="Arial"/>
                <a:ea typeface="Arial"/>
                <a:cs typeface="Arial"/>
              </a:rPr>
              <a:t>Darba plāna sasaite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FE5530-140A-4262-AC26-3006340C8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5151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8795A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8795AD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E52EC0-7C64-439F-912F-F5788393B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90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04B87"/>
                </a:solidFill>
                <a:latin typeface="Arial"/>
                <a:ea typeface="Arial"/>
                <a:cs typeface="Arial"/>
              </a:rPr>
              <a:t>Darba plāna punkti, kurus sedz pilots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EE558C-9294-48D6-9F25-7D7B03D59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6690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58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58A"/>
                </a:solidFill>
                <a:latin typeface="Arial"/>
                <a:ea typeface="Arial"/>
                <a:cs typeface="Arial"/>
              </a:rPr>
              <a:t>Slaids sasaista ZM darba uzdevumu ar reāli pārbaudītu prototipa funkcionalitāti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552450" y="2381250"/>
          <a:ext xmlns:a="http://schemas.openxmlformats.org/drawingml/2006/main" cx="8039100" cy="2952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762000"/>
                <a:gridCol w="3764017"/>
                <a:gridCol w="3513083"/>
              </a:tblGrid>
              <a:tr h="49212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Punkts</a:t>
                      </a:r>
                    </a:p>
                  </a:txBody>
                  <a:tcPr marL="91440" marR="91440" marT="45720" marB="45720">
                    <a:solidFill>
                      <a:srgbClr val="004B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Darba plāna jēga</a:t>
                      </a:r>
                    </a:p>
                  </a:txBody>
                  <a:tcPr marL="91440" marR="91440" marT="45720" marB="45720">
                    <a:solidFill>
                      <a:srgbClr val="004B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Pilotā jau parādāms</a:t>
                      </a:r>
                    </a:p>
                  </a:txBody>
                  <a:tcPr marL="91440" marR="91440" marT="45720" marB="45720">
                    <a:solidFill>
                      <a:srgbClr val="004B87"/>
                    </a:solidFill>
                  </a:tcPr>
                </a:tc>
              </a:tr>
              <a:tr h="4921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2.1</a:t>
                      </a:r>
                    </a:p>
                  </a:txBody>
                  <a:tcPr marL="66675" marR="66675" marT="47625" marB="47625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SSM un SWI satelītdatu ieguve</a:t>
                      </a:r>
                    </a:p>
                  </a:txBody>
                  <a:tcPr marL="66675" marR="66675" marT="47625" marB="47625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H-SAF SSM un Copernicus SWI avoti identificēti un pieslēgti datu ķēdei</a:t>
                      </a:r>
                    </a:p>
                  </a:txBody>
                  <a:tcPr marL="66675" marR="66675" marT="47625" marB="47625"/>
                </a:tc>
              </a:tr>
              <a:tr h="4921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2.2</a:t>
                      </a:r>
                    </a:p>
                  </a:txBody>
                  <a:tcPr marL="66675" marR="66675" marT="47625" marB="47625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Telpisks pārklājums Latvijai</a:t>
                      </a:r>
                    </a:p>
                  </a:txBody>
                  <a:tcPr marL="66675" marR="66675" marT="47625" marB="47625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1 km grid slāņi, pašvaldību pārskats un dienas manifesti</a:t>
                      </a:r>
                    </a:p>
                  </a:txBody>
                  <a:tcPr marL="66675" marR="66675" marT="47625" marB="47625"/>
                </a:tc>
              </a:tr>
              <a:tr h="4921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2.3</a:t>
                      </a:r>
                    </a:p>
                  </a:txBody>
                  <a:tcPr marL="66675" marR="66675" marT="47625" marB="47625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Satelīts pret stacijām</a:t>
                      </a:r>
                    </a:p>
                  </a:txBody>
                  <a:tcPr marL="66675" marR="66675" marT="47625" marB="47625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Datu modelis paredz salīdzinājumu ar staciju sensoriem</a:t>
                      </a:r>
                    </a:p>
                  </a:txBody>
                  <a:tcPr marL="66675" marR="66675" marT="47625" marB="47625"/>
                </a:tc>
              </a:tr>
              <a:tr h="4921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2.4</a:t>
                      </a:r>
                    </a:p>
                  </a:txBody>
                  <a:tcPr marL="66675" marR="66675" marT="47625" marB="47625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Riska teritoriju algoritms</a:t>
                      </a:r>
                    </a:p>
                  </a:txBody>
                  <a:tcPr marL="66675" marR="66675" marT="47625" marB="47625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KIRI riska līmenis 1-5, reason codes un pārliecības līmenis</a:t>
                      </a:r>
                    </a:p>
                  </a:txBody>
                  <a:tcPr marL="66675" marR="66675" marT="47625" marB="47625"/>
                </a:tc>
              </a:tr>
              <a:tr h="492125"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3.1-4.1</a:t>
                      </a:r>
                    </a:p>
                  </a:txBody>
                  <a:tcPr marL="66675" marR="66675" marT="47625" marB="47625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References, sliekšņi un digitāls rīks</a:t>
                      </a:r>
                    </a:p>
                  </a:txBody>
                  <a:tcPr marL="66675" marR="66675" marT="47625" marB="47625"/>
                </a:tc>
                <a:tc>
                  <a:txBody>
                    <a:bodyPr/>
                    <a:lstStyle/>
                    <a:p>
                      <a:r>
                        <a:rPr sz="975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60 dienu vēsture, kartes demo un nākamais sliekšņu kalibrēšanas posms</a:t>
                      </a:r>
                    </a:p>
                  </a:txBody>
                  <a:tcPr marL="66675" marR="66675" marT="47625" marB="47625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619220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fc54a654c7416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F00A4A-DF44-4367-897F-4D4A94F7E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8795A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8795AD"/>
                </a:solidFill>
                <a:latin typeface="Arial"/>
                <a:ea typeface="Arial"/>
                <a:cs typeface="Arial"/>
              </a:rPr>
              <a:t>Datu avoti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83F069-0873-451F-AB96-811B8FE85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5151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8795A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8795AD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D97525-044E-449A-A471-76443EEB0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90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04B87"/>
                </a:solidFill>
                <a:latin typeface="Arial"/>
                <a:ea typeface="Arial"/>
                <a:cs typeface="Arial"/>
              </a:rPr>
              <a:t>Datu avotu kodols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45339E-2AC4-46F8-AB57-081E84C0B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6690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58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58A"/>
                </a:solidFill>
                <a:latin typeface="Arial"/>
                <a:ea typeface="Arial"/>
                <a:cs typeface="Arial"/>
              </a:rPr>
              <a:t>Pirmajai versijai pietiek ar pieciem indikatoriem, vēlāk pievieno hard-stop un hidroloģiju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7CE4FF-A5C5-42CD-A17D-E5DCC63A5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7924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1200A1-41D8-4FAD-84E2-69330D55A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288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04B87"/>
                </a:solidFill>
                <a:latin typeface="Arial"/>
                <a:ea typeface="Arial"/>
                <a:cs typeface="Arial"/>
              </a:rPr>
              <a:t>CLIDATA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32E97C-EF07-4C53-8EE1-2FFFD57C6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4003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42735"/>
                </a:solidFill>
                <a:latin typeface="Arial"/>
                <a:ea typeface="Arial"/>
                <a:cs typeface="Arial"/>
              </a:rPr>
              <a:t>P30, P90, P730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0C8A55-CCE4-4ACF-8031-FEBCC2766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003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42735"/>
                </a:solidFill>
                <a:latin typeface="Arial"/>
                <a:ea typeface="Arial"/>
                <a:cs typeface="Arial"/>
              </a:rPr>
              <a:t>Nokrišņu fons īsā, sezonālā un ilgākā periodā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D59C2D-F79F-4AD5-BC99-6F1415B9B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7924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FD3C52-47CF-4526-8CE0-A079C45BF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04B87"/>
                </a:solidFill>
                <a:latin typeface="Arial"/>
                <a:ea typeface="Arial"/>
                <a:cs typeface="Arial"/>
              </a:rPr>
              <a:t>H-SAF SSM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F1DD78-42F7-4B83-B221-C01F11A20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9527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42735"/>
                </a:solidFill>
                <a:latin typeface="Arial"/>
                <a:ea typeface="Arial"/>
                <a:cs typeface="Arial"/>
              </a:rPr>
              <a:t>Surface Soil Moisture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C68AB0-179A-41E4-89D9-FD9EFC0FA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527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42735"/>
                </a:solidFill>
                <a:latin typeface="Arial"/>
                <a:ea typeface="Arial"/>
                <a:cs typeface="Arial"/>
              </a:rPr>
              <a:t>Virsmas slāņa mitruma signāls zem 5 cm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6126B4-AD25-4664-95E6-96E2F9116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7924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E07B71-BD83-4046-9F05-A86712330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337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04B87"/>
                </a:solidFill>
                <a:latin typeface="Arial"/>
                <a:ea typeface="Arial"/>
                <a:cs typeface="Arial"/>
              </a:rPr>
              <a:t>Copernicus SWI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1AFFF5-A8FE-40C8-AD0B-23C30475E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5052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42735"/>
                </a:solidFill>
                <a:latin typeface="Arial"/>
                <a:ea typeface="Arial"/>
                <a:cs typeface="Arial"/>
              </a:rPr>
              <a:t>Soil Water Index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93E2A9-8F24-46CC-B9F0-79FA479AC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05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817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42735"/>
                </a:solidFill>
                <a:latin typeface="Arial"/>
                <a:ea typeface="Arial"/>
                <a:cs typeface="Arial"/>
              </a:rPr>
              <a:t>Ikdienas Eiropas 1 km režģis, profila mitruma dinamika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425037-AAB1-4217-A0E0-659D4C3D1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7924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0821AD-3C3C-4826-97E5-A631C324C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862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04B87"/>
                </a:solidFill>
                <a:latin typeface="Arial"/>
                <a:ea typeface="Arial"/>
                <a:cs typeface="Arial"/>
              </a:rPr>
              <a:t>Stacijas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4FFF70-D51E-4026-910B-D958EE1F3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0576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6078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42735"/>
                </a:solidFill>
                <a:latin typeface="Arial"/>
                <a:ea typeface="Arial"/>
                <a:cs typeface="Arial"/>
              </a:rPr>
              <a:t>Augsnes mitrums un temperatūra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D2EB3C-ECB4-48FB-BE21-AE8D41D25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576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42735"/>
                </a:solidFill>
                <a:latin typeface="Arial"/>
                <a:ea typeface="Arial"/>
                <a:cs typeface="Arial"/>
              </a:rPr>
              <a:t>Verifikācija, sasalums un lokāls ground truth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12FE4F-13D1-49A9-929B-540C82401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7924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6B7632-757C-4C55-85DE-22736CABA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386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04B87"/>
                </a:solidFill>
                <a:latin typeface="Arial"/>
                <a:ea typeface="Arial"/>
                <a:cs typeface="Arial"/>
              </a:rPr>
              <a:t>LBTU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FCE8CF-D149-4D34-9656-0FBE79B9F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6101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42735"/>
                </a:solidFill>
                <a:latin typeface="Arial"/>
                <a:ea typeface="Arial"/>
                <a:cs typeface="Arial"/>
              </a:rPr>
              <a:t>Drenas, mazie baseini, N/P epizodes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472C3B-2B95-4F16-B111-B5A5DBF23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101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42735"/>
                </a:solidFill>
                <a:latin typeface="Arial"/>
                <a:ea typeface="Arial"/>
                <a:cs typeface="Arial"/>
              </a:rPr>
              <a:t>Indeksa kalibrācija pret reālu zudumu risku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1414A5-BA14-402B-A2E3-948B64F7A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38875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A94A8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8A94A8"/>
                </a:solidFill>
                <a:latin typeface="Arial"/>
                <a:ea typeface="Arial"/>
                <a:cs typeface="Arial"/>
              </a:rPr>
              <a:t>Ārējie avoti: EUMETSAT H-SAF, Copernicus Land Monitoring Service, LVĢMC CLIDATA</a:t>
            </a:r>
          </a:p>
        </p:txBody>
      </p:sp>
    </p:spTree>
    <p:extLst>
      <p:ext uri="{BB962C8B-B14F-4D97-AF65-F5344CB8AC3E}">
        <p14:creationId xmlns:p14="http://schemas.microsoft.com/office/powerpoint/2010/main" val="143836128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91603352b043d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C0AC22-B3ED-477C-B297-3BECC66D0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8795A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8795AD"/>
                </a:solidFill>
                <a:latin typeface="Arial"/>
                <a:ea typeface="Arial"/>
                <a:cs typeface="Arial"/>
              </a:rPr>
              <a:t>Apstrādes ķēde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99A975-6DCD-4554-B62F-C29DC0859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5151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8795A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8795AD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363733-D19A-457D-AFC4-7C655F87C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90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04B87"/>
                </a:solidFill>
                <a:latin typeface="Arial"/>
                <a:ea typeface="Arial"/>
                <a:cs typeface="Arial"/>
              </a:rPr>
              <a:t>Kā dati kļūst par karti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880C7C-D5AB-49F6-A5DC-7FB8C3E4C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6690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58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58A"/>
                </a:solidFill>
                <a:latin typeface="Arial"/>
                <a:ea typeface="Arial"/>
                <a:cs typeface="Arial"/>
              </a:rPr>
              <a:t>Operatīvais prototips strādā kā reproducējama datu ķēde līdz GitHub Pages kartei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57437A-302A-46B3-8080-29E33A8F8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76500"/>
            <a:ext cx="419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8"/>
          </a:solidFill>
          <a:ln xmlns:a="http://schemas.openxmlformats.org/drawingml/2006/main" w="9525">
            <a:solidFill>
              <a:srgbClr val="C7D7E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83C6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3C6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64F923-ECFF-4975-B1B4-470388465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527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4B87"/>
                </a:solidFill>
                <a:latin typeface="Arial"/>
                <a:ea typeface="Arial"/>
                <a:cs typeface="Arial"/>
              </a:rPr>
              <a:t>Iegūt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2355EC-B491-446F-BDB7-78AFC75D3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95650"/>
            <a:ext cx="1314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42735"/>
                </a:solidFill>
                <a:latin typeface="Arial"/>
                <a:ea typeface="Arial"/>
                <a:cs typeface="Arial"/>
              </a:rPr>
              <a:t>H-SAF, Copernicus SWI un CLIDATA avoti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7024CC-4B0B-4937-99D6-3E67554C7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62890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9B7C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F71A7A-B1A6-4559-B3D1-D30513D41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476500"/>
            <a:ext cx="419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8"/>
          </a:solidFill>
          <a:ln xmlns:a="http://schemas.openxmlformats.org/drawingml/2006/main" w="9525">
            <a:solidFill>
              <a:srgbClr val="C7D7E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83C6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3C6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D54E7B-945A-4982-850A-ACB8BA4DA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9527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4B87"/>
                </a:solidFill>
                <a:latin typeface="Arial"/>
                <a:ea typeface="Arial"/>
                <a:cs typeface="Arial"/>
              </a:rPr>
              <a:t>Izgriezt Latviju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A1256D-94C4-4696-BCF1-B53580724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295650"/>
            <a:ext cx="1314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42735"/>
                </a:solidFill>
                <a:latin typeface="Arial"/>
                <a:ea typeface="Arial"/>
                <a:cs typeface="Arial"/>
              </a:rPr>
              <a:t>Vienots datums, CRS un 1 km režģis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CD268E-D3CC-46F2-A040-D01CEB696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62890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9B7C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92B3EF-CA67-4B32-BE5E-3BD064333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476500"/>
            <a:ext cx="419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1DC"/>
          </a:solidFill>
          <a:ln xmlns:a="http://schemas.openxmlformats.org/drawingml/2006/main" w="9525">
            <a:solidFill>
              <a:srgbClr val="C7D7E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83C6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3C6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8CA89E-8CA5-43F3-AEFE-908DF9B13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527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68892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4B87"/>
                </a:solidFill>
                <a:latin typeface="Arial"/>
                <a:ea typeface="Arial"/>
                <a:cs typeface="Arial"/>
              </a:rPr>
              <a:t>Aprēķināt indikatorus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26EE96-11E2-45AE-A97C-A767464D5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295650"/>
            <a:ext cx="1314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42735"/>
                </a:solidFill>
                <a:latin typeface="Arial"/>
                <a:ea typeface="Arial"/>
                <a:cs typeface="Arial"/>
              </a:rPr>
              <a:t>P30/P90/P730, SSM, SWI un kvalitātes pazīmes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2942DE-EF82-4371-B3D0-53A22F903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62890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9B7C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76E156-0A8E-4D91-9970-B3A18F21E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476500"/>
            <a:ext cx="419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1DC"/>
          </a:solidFill>
          <a:ln xmlns:a="http://schemas.openxmlformats.org/drawingml/2006/main" w="9525">
            <a:solidFill>
              <a:srgbClr val="C7D7E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83C6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3C66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F71B0A-CC99-493B-99CD-45F50763E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9527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134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4B87"/>
                </a:solidFill>
                <a:latin typeface="Arial"/>
                <a:ea typeface="Arial"/>
                <a:cs typeface="Arial"/>
              </a:rPr>
              <a:t>Normalizēt risku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86E662-3D9B-4A1D-8500-4AA06D428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295650"/>
            <a:ext cx="1314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42735"/>
                </a:solidFill>
                <a:latin typeface="Arial"/>
                <a:ea typeface="Arial"/>
                <a:cs typeface="Arial"/>
              </a:rPr>
              <a:t>1-5 līmeņi, aktīvie iemesli un pārliecība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F6CD10-86E9-4AAF-B8E1-E82723A04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2890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9B7C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799F83-DB90-4C5F-91E6-DE64F4021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476500"/>
            <a:ext cx="419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1DC"/>
          </a:solidFill>
          <a:ln xmlns:a="http://schemas.openxmlformats.org/drawingml/2006/main" w="9525">
            <a:solidFill>
              <a:srgbClr val="C7D7E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83C6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3C66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BFCCC0-8754-47AA-9868-5F4B6A370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95275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4B87"/>
                </a:solidFill>
                <a:latin typeface="Arial"/>
                <a:ea typeface="Arial"/>
                <a:cs typeface="Arial"/>
              </a:rPr>
              <a:t>Publicēt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DBFBD6-9095-48BF-8465-7601DF857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295650"/>
            <a:ext cx="13144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42735"/>
                </a:solidFill>
                <a:latin typeface="Arial"/>
                <a:ea typeface="Arial"/>
                <a:cs typeface="Arial"/>
              </a:rPr>
              <a:t>Pašvaldību pārskats un grid vērtības pārlūkā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A7B7E4-77B7-4DBA-B0B3-CF7BD0DCB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863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4B87"/>
                </a:solidFill>
                <a:latin typeface="Arial"/>
                <a:ea typeface="Arial"/>
                <a:cs typeface="Arial"/>
              </a:rPr>
              <a:t>Praktiskais ieguvums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69F1FD-572D-484F-AA52-7C5DA3C6B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29200"/>
            <a:ext cx="723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01600">
              <a:spcAft>
                <a:spcPts val="600"/>
              </a:spcAft>
              <a:buChar char="•"/>
              <a:defRPr sz="135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42735"/>
                </a:solidFill>
                <a:latin typeface="Arial"/>
                <a:ea typeface="Arial"/>
                <a:cs typeface="Arial"/>
              </a:rPr>
              <a:t>Frontend glabā statisko grid ģeometriju vienreiz, bet katrai dienai ielādē tikai vērtības.</a:t>
            </a:r>
          </a:p>
          <a:p xmlns:a="http://schemas.openxmlformats.org/drawingml/2006/main">
            <a:pPr marL="228600" indent="-101600">
              <a:spcAft>
                <a:spcPts val="600"/>
              </a:spcAft>
              <a:buChar char="•"/>
              <a:defRPr sz="135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42735"/>
                </a:solidFill>
                <a:latin typeface="Arial"/>
                <a:ea typeface="Arial"/>
                <a:cs typeface="Arial"/>
              </a:rPr>
              <a:t>Dienas refresh ģenerē tikai trūkstošo datu posmu, tāpēc rīks paliek uzturams arī ar lielu datu vēsturi.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8C3657-0C7E-46E1-A777-83EE19408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38875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A94A8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8A94A8"/>
                </a:solidFill>
                <a:latin typeface="Arial"/>
                <a:ea typeface="Arial"/>
                <a:cs typeface="Arial"/>
              </a:rPr>
              <a:t>Koda avoti: GRID_SAGATAVE/ARCHITECTURE.md un GRID_SAGATAVE/README.md</a:t>
            </a:r>
          </a:p>
        </p:txBody>
      </p:sp>
    </p:spTree>
    <p:extLst>
      <p:ext uri="{BB962C8B-B14F-4D97-AF65-F5344CB8AC3E}">
        <p14:creationId xmlns:p14="http://schemas.microsoft.com/office/powerpoint/2010/main" val="178737859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a498d52635406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4A4D0B-1674-4B76-9A43-3E1CFBED8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8795A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8795AD"/>
                </a:solidFill>
                <a:latin typeface="Arial"/>
                <a:ea typeface="Arial"/>
                <a:cs typeface="Arial"/>
              </a:rPr>
              <a:t>60 dienu dati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6E2878-6540-44F6-8DF1-4E4DD8E1B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5151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8795A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8795AD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057DF3-8203-4AD9-B4B6-5D1B54D19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90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04B87"/>
                </a:solidFill>
                <a:latin typeface="Arial"/>
                <a:ea typeface="Arial"/>
                <a:cs typeface="Arial"/>
              </a:rPr>
              <a:t>Riska signāls pēdējā datu logā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130A69-44D9-41E0-B187-657DE4602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6690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58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58A"/>
                </a:solidFill>
                <a:latin typeface="Arial"/>
                <a:ea typeface="Arial"/>
                <a:cs typeface="Arial"/>
              </a:rPr>
              <a:t>Pilotā var parādīt ne tikai karti, bet arī datu dinamiku pa datumiem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666750" y="2333625"/>
          <a:ext xmlns:a="http://schemas.openxmlformats.org/drawingml/2006/main" cx="5219700" cy="2714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e9e09061f8e49f8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1BB3A2-0299-4F79-9176-E936D820A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09850"/>
            <a:ext cx="2047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F08A4B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F08A4B"/>
                </a:solidFill>
                <a:latin typeface="Arial"/>
                <a:ea typeface="Arial"/>
                <a:cs typeface="Arial"/>
              </a:rPr>
              <a:t>93%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3CBAEB-4305-483B-8404-D324BE653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67050"/>
            <a:ext cx="2047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58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6758A"/>
                </a:solidFill>
                <a:latin typeface="Arial"/>
                <a:ea typeface="Arial"/>
                <a:cs typeface="Arial"/>
              </a:rPr>
              <a:t>redzamo šūnu 2026-09-06 ir 4. vai 5. riska līmenī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DE5176-D7B2-4281-B47E-8490614FE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52850"/>
            <a:ext cx="2047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C94F44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C94F44"/>
                </a:solidFill>
                <a:latin typeface="Arial"/>
                <a:ea typeface="Arial"/>
                <a:cs typeface="Arial"/>
              </a:rPr>
              <a:t>4.2%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C46D9B-27E7-4D17-A7AC-237F80579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10050"/>
            <a:ext cx="2047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58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6758A"/>
                </a:solidFill>
                <a:latin typeface="Arial"/>
                <a:ea typeface="Arial"/>
                <a:cs typeface="Arial"/>
              </a:rPr>
              <a:t>redzamo šūnu 2026-09-06 ir 5. riska līmenī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523A21-AFFD-4C17-82F2-385C384DC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95850"/>
            <a:ext cx="2057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214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42735"/>
                </a:solidFill>
                <a:latin typeface="Arial"/>
                <a:ea typeface="Arial"/>
                <a:cs typeface="Arial"/>
              </a:rPr>
              <a:t>Piezīme: jaunākajā datumā SWI vēl kavējas, tāpēc rīks parāda vidēju pārliecību, nevis slēpj datu trūkumu.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AD2D19-772A-4AEC-AA46-E896DAC43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38875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A94A8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8A94A8"/>
                </a:solidFill>
                <a:latin typeface="Arial"/>
                <a:ea typeface="Arial"/>
                <a:cs typeface="Arial"/>
              </a:rPr>
              <a:t>Datu avots: GRID_SAGATAVE/frontend/data/calendar_manifest.json</a:t>
            </a:r>
          </a:p>
        </p:txBody>
      </p:sp>
    </p:spTree>
    <p:extLst>
      <p:ext uri="{BB962C8B-B14F-4D97-AF65-F5344CB8AC3E}">
        <p14:creationId xmlns:p14="http://schemas.microsoft.com/office/powerpoint/2010/main" val="147525243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fa873ec541402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BB6AD8-1FF5-47CE-A30D-AB72A5A1F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8795A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8795AD"/>
                </a:solidFill>
                <a:latin typeface="Arial"/>
                <a:ea typeface="Arial"/>
                <a:cs typeface="Arial"/>
              </a:rPr>
              <a:t>Pilotsaites demonstrācija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5F8BA6-1676-4A1A-8555-ED95737FF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5151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8795A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8795AD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FD0666-656A-48EE-BB67-9889E6ACA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90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04B87"/>
                </a:solidFill>
                <a:latin typeface="Arial"/>
                <a:ea typeface="Arial"/>
                <a:cs typeface="Arial"/>
              </a:rPr>
              <a:t>Latvijas pārskata karte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A1AF31-1F63-4C97-842B-1C94E4865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6690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58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58A"/>
                </a:solidFill>
                <a:latin typeface="Arial"/>
                <a:ea typeface="Arial"/>
                <a:cs typeface="Arial"/>
              </a:rPr>
              <a:t>Lietotājs sāk ar vienu saprotamu riska karti un datuma izvēli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13992eef164ccc"/>
          <a:srcRect xmlns:a="http://schemas.openxmlformats.org/drawingml/2006/main" l="98" t="0" r="9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2247900"/>
            <a:ext cx="5810250" cy="36385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051E95-4314-4B2B-8014-BC431D7F6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571750"/>
            <a:ext cx="18859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94025"/>
          </a:bodyPr>
          <a:lstStyle xmlns:a="http://schemas.openxmlformats.org/drawingml/2006/main"/>
          <a:p xmlns:a="http://schemas.openxmlformats.org/drawingml/2006/main">
            <a:pPr marL="228600" indent="-101600">
              <a:spcAft>
                <a:spcPts val="800"/>
              </a:spcAft>
              <a:buChar char="•"/>
              <a:defRPr sz="135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42735"/>
                </a:solidFill>
                <a:latin typeface="Arial"/>
                <a:ea typeface="Arial"/>
                <a:cs typeface="Arial"/>
              </a:rPr>
              <a:t>Augšā redzams aktīvais datums.</a:t>
            </a:r>
          </a:p>
          <a:p xmlns:a="http://schemas.openxmlformats.org/drawingml/2006/main">
            <a:pPr marL="228600" indent="-101600">
              <a:spcAft>
                <a:spcPts val="800"/>
              </a:spcAft>
              <a:buChar char="•"/>
              <a:defRPr sz="135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42735"/>
                </a:solidFill>
                <a:latin typeface="Arial"/>
                <a:ea typeface="Arial"/>
                <a:cs typeface="Arial"/>
              </a:rPr>
              <a:t>Datuma panelis rāda pēdējo 60 dienu logu.</a:t>
            </a:r>
          </a:p>
          <a:p xmlns:a="http://schemas.openxmlformats.org/drawingml/2006/main">
            <a:pPr marL="228600" indent="-101600">
              <a:spcAft>
                <a:spcPts val="800"/>
              </a:spcAft>
              <a:buChar char="•"/>
              <a:defRPr sz="135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42735"/>
                </a:solidFill>
                <a:latin typeface="Arial"/>
                <a:ea typeface="Arial"/>
                <a:cs typeface="Arial"/>
              </a:rPr>
              <a:t>Leģenda skaidro 1-5 riska līmeņus.</a:t>
            </a:r>
          </a:p>
          <a:p xmlns:a="http://schemas.openxmlformats.org/drawingml/2006/main">
            <a:pPr marL="228600" indent="-101600">
              <a:spcAft>
                <a:spcPts val="800"/>
              </a:spcAft>
              <a:buChar char="•"/>
              <a:defRPr sz="135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42735"/>
                </a:solidFill>
                <a:latin typeface="Arial"/>
                <a:ea typeface="Arial"/>
                <a:cs typeface="Arial"/>
              </a:rPr>
              <a:t>Klikšķis uz pašvaldības atver 1 km grid skatu.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9EBBC4-F064-4D34-AED8-297069F16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0863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004B87"/>
                </a:solidFill>
                <a:latin typeface="Arial"/>
                <a:ea typeface="Arial"/>
                <a:cs typeface="Arial"/>
              </a:rPr>
              <a:t>Publiskā saite: https://dboka.github.io/KIRI/</a:t>
            </a:r>
          </a:p>
        </p:txBody>
      </p:sp>
    </p:spTree>
    <p:extLst>
      <p:ext uri="{BB962C8B-B14F-4D97-AF65-F5344CB8AC3E}">
        <p14:creationId xmlns:p14="http://schemas.microsoft.com/office/powerpoint/2010/main" val="2295128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4a60f4283c463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BFC1D9-696B-4DDD-A16F-A4867C34A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8795A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8795AD"/>
                </a:solidFill>
                <a:latin typeface="Arial"/>
                <a:ea typeface="Arial"/>
                <a:cs typeface="Arial"/>
              </a:rPr>
              <a:t>Grid detalizācija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C923FB-A312-4B1D-A133-52AB6975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5151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8795A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8795AD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CBA448-A041-422E-9958-E9D2AB4FE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90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04B87"/>
                </a:solidFill>
                <a:latin typeface="Arial"/>
                <a:ea typeface="Arial"/>
                <a:cs typeface="Arial"/>
              </a:rPr>
              <a:t>Pašvaldības 1 km grid skats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5AF8E2-2BEE-45B9-A1EE-EE219D8C3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6690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58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58A"/>
                </a:solidFill>
                <a:latin typeface="Arial"/>
                <a:ea typeface="Arial"/>
                <a:cs typeface="Arial"/>
              </a:rPr>
              <a:t>Klikšķis uz novada parāda, kur novada iekšienē veidojas augstais risks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6f74f8ebef45a9"/>
          <a:srcRect xmlns:a="http://schemas.openxmlformats.org/drawingml/2006/main" l="64" t="0" r="6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00" y="2190750"/>
            <a:ext cx="5905500" cy="36957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E2438E-4D9A-4265-A57E-7C8494BA4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19350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4B87"/>
                </a:solidFill>
                <a:latin typeface="Arial"/>
                <a:ea typeface="Arial"/>
                <a:cs typeface="Arial"/>
              </a:rPr>
              <a:t>Ko demonstrēt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FF78A3-9560-41C1-A459-A2B2CF7A0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00350"/>
            <a:ext cx="1809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89236"/>
          </a:bodyPr>
          <a:lstStyle xmlns:a="http://schemas.openxmlformats.org/drawingml/2006/main"/>
          <a:p xmlns:a="http://schemas.openxmlformats.org/drawingml/2006/main">
            <a:pPr marL="228600" indent="-101600">
              <a:spcAft>
                <a:spcPts val="700"/>
              </a:spcAft>
              <a:buChar char="•"/>
              <a:defRPr sz="120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42735"/>
                </a:solidFill>
                <a:latin typeface="Arial"/>
                <a:ea typeface="Arial"/>
                <a:cs typeface="Arial"/>
              </a:rPr>
              <a:t>Novada panelī redzams kopējais risks un augsta riska šūnu īpatsvars.</a:t>
            </a:r>
          </a:p>
          <a:p xmlns:a="http://schemas.openxmlformats.org/drawingml/2006/main">
            <a:pPr marL="228600" indent="-101600">
              <a:spcAft>
                <a:spcPts val="700"/>
              </a:spcAft>
              <a:buChar char="•"/>
              <a:defRPr sz="120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42735"/>
                </a:solidFill>
                <a:latin typeface="Arial"/>
                <a:ea typeface="Arial"/>
                <a:cs typeface="Arial"/>
              </a:rPr>
              <a:t>Grid šūna atver indikatorus: H-SAF SSM, P30, P90, P730 un SWI, kad tas ir pieejams.</a:t>
            </a:r>
          </a:p>
          <a:p xmlns:a="http://schemas.openxmlformats.org/drawingml/2006/main">
            <a:pPr marL="228600" indent="-101600">
              <a:spcAft>
                <a:spcPts val="700"/>
              </a:spcAft>
              <a:buChar char="•"/>
              <a:defRPr sz="120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42735"/>
                </a:solidFill>
                <a:latin typeface="Arial"/>
                <a:ea typeface="Arial"/>
                <a:cs typeface="Arial"/>
              </a:rPr>
              <a:t>Reason codes rāda, kāpēc teritorija nokļuvusi riska līmenī.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262162-24B1-49F9-B63B-724399D09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02920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7497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142735"/>
                </a:solidFill>
                <a:latin typeface="Arial"/>
                <a:ea typeface="Arial"/>
                <a:cs typeface="Arial"/>
              </a:rPr>
              <a:t>Šis ir svarīgākais pilots: pašvaldība nav tikai viena krāsa, aiz tās ir pārbaudāmas šūnas.</a:t>
            </a:r>
          </a:p>
        </p:txBody>
      </p:sp>
    </p:spTree>
    <p:extLst>
      <p:ext uri="{BB962C8B-B14F-4D97-AF65-F5344CB8AC3E}">
        <p14:creationId xmlns:p14="http://schemas.microsoft.com/office/powerpoint/2010/main" val="21997330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4d9b5d52f2491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E91066-12E0-4908-B7F0-021E87DF0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8795A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8795AD"/>
                </a:solidFill>
                <a:latin typeface="Arial"/>
                <a:ea typeface="Arial"/>
                <a:cs typeface="Arial"/>
              </a:rPr>
              <a:t>Riska algoritms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20036F-3400-47DE-B6DB-9D05A4B18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5151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8795A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8795AD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8BD8BD-49CB-48F7-9242-F6E128DBB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90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04B87"/>
                </a:solidFill>
                <a:latin typeface="Arial"/>
                <a:ea typeface="Arial"/>
                <a:cs typeface="Arial"/>
              </a:rPr>
              <a:t>Pašreizējais riska aprēķins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439DCE-5F1F-47D3-AF02-80A72B1B7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6690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58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58A"/>
                </a:solidFill>
                <a:latin typeface="Arial"/>
                <a:ea typeface="Arial"/>
                <a:cs typeface="Arial"/>
              </a:rPr>
              <a:t>v0.1.3 dod skaidrojamu risku, bet sliekšņi vēl jāvalidē pret vēsturi un stacijām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BD8D76-E7B4-482E-A16F-FF42F00A3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22479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8"/>
          </a:solidFill>
          <a:ln xmlns:a="http://schemas.openxmlformats.org/drawingml/2006/main" w="9525">
            <a:solidFill>
              <a:srgbClr val="C8D5D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BC8747-B6F3-4EB9-81E2-A006693BA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813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4B87"/>
                </a:solidFill>
                <a:latin typeface="Arial"/>
                <a:ea typeface="Arial"/>
                <a:cs typeface="Arial"/>
              </a:rPr>
              <a:t>Indikatori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7B2D08-DB90-4FB5-9A59-0E1CDE5E4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62300"/>
            <a:ext cx="1885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42735"/>
                </a:solidFill>
                <a:latin typeface="Arial"/>
                <a:ea typeface="Arial"/>
                <a:cs typeface="Arial"/>
              </a:rPr>
              <a:t>P30, P90, P730, H-SAF SSM un Copernicus SWI tiek pārvērsti 1-5 riska līmenī.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09E837-2182-4C07-9DFD-DBEAEB4EF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571750"/>
            <a:ext cx="22479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DF"/>
          </a:solidFill>
          <a:ln xmlns:a="http://schemas.openxmlformats.org/drawingml/2006/main" w="9525">
            <a:solidFill>
              <a:srgbClr val="C8D5D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911B12-4261-4B06-BEE9-0764D78F2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7813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4B87"/>
                </a:solidFill>
                <a:latin typeface="Arial"/>
                <a:ea typeface="Arial"/>
                <a:cs typeface="Arial"/>
              </a:rPr>
              <a:t>Kombinācija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E226CC-7B82-4F88-BC2C-FF7947600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162300"/>
            <a:ext cx="1885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42735"/>
                </a:solidFill>
                <a:latin typeface="Arial"/>
                <a:ea typeface="Arial"/>
                <a:cs typeface="Arial"/>
              </a:rPr>
              <a:t>Konfigurācijā izmantota moisture-first pieeja ar vismaz trīs aktīviem indikatoriem.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2E4888-AE10-416A-B8D9-2EA8E8F0F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571750"/>
            <a:ext cx="22479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0"/>
          </a:solidFill>
          <a:ln xmlns:a="http://schemas.openxmlformats.org/drawingml/2006/main" w="9525">
            <a:solidFill>
              <a:srgbClr val="C8D5D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DFE240-74AF-44E3-9B8D-E781965D2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813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4B87"/>
                </a:solidFill>
                <a:latin typeface="Arial"/>
                <a:ea typeface="Arial"/>
                <a:cs typeface="Arial"/>
              </a:rPr>
              <a:t>Skaidrojums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DB7DCB-EC9F-44B6-8D64-787EF30AA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162300"/>
            <a:ext cx="1885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42735"/>
                </a:solidFill>
                <a:latin typeface="Arial"/>
                <a:ea typeface="Arial"/>
                <a:cs typeface="Arial"/>
              </a:rPr>
              <a:t>Katram riskam līdzi nāk aktīvie iemesli, konteksts un pārliecības līmenis.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F3B31A-8494-43A1-A6C3-E9745472B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530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4B87"/>
                </a:solidFill>
                <a:latin typeface="Arial"/>
                <a:ea typeface="Arial"/>
                <a:cs typeface="Arial"/>
              </a:rPr>
              <a:t>Svarīgi sapulcei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6D2F3F-7EA0-428E-9334-5B0F16AF7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76850"/>
            <a:ext cx="7096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42735"/>
                </a:solidFill>
                <a:latin typeface="Arial"/>
                <a:ea typeface="Arial"/>
                <a:cs typeface="Arial"/>
              </a:rPr>
              <a:t>Pilotā šobrīd ir tehniski strādājošs aprēķins. ZM, LVĢMC un LBTU sarunā jāvienojas, kā robežvērtības zinātniski nostiprināt Latvijas apstākļiem.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F68FD2-BBAD-491B-BC98-3C0F0F784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38875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8A94A8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8A94A8"/>
                </a:solidFill>
                <a:latin typeface="Arial"/>
                <a:ea typeface="Arial"/>
                <a:cs typeface="Arial"/>
              </a:rPr>
              <a:t>Koda avots: GRID_SAGATAVE/config/normalization_v01.yaml</a:t>
            </a:r>
          </a:p>
        </p:txBody>
      </p:sp>
    </p:spTree>
    <p:extLst>
      <p:ext uri="{BB962C8B-B14F-4D97-AF65-F5344CB8AC3E}">
        <p14:creationId xmlns:p14="http://schemas.microsoft.com/office/powerpoint/2010/main" val="113725199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8b778afd734d8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C8038E-2329-49FC-BC6F-DC4372982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8795A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8795AD"/>
                </a:solidFill>
                <a:latin typeface="Arial"/>
                <a:ea typeface="Arial"/>
                <a:cs typeface="Arial"/>
              </a:rPr>
              <a:t>Validācija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1A0AEB-9C5F-4D80-9AB6-CE241252D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5151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8795A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8795AD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148907-F7D0-4412-B710-B1127D8B0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90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04B87"/>
                </a:solidFill>
                <a:latin typeface="Arial"/>
                <a:ea typeface="Arial"/>
                <a:cs typeface="Arial"/>
              </a:rPr>
              <a:t>Kā pierādīt satelītdatu kvalitāti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B33D81-E327-4AA2-A781-A6EA77701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6690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58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58A"/>
                </a:solidFill>
                <a:latin typeface="Arial"/>
                <a:ea typeface="Arial"/>
                <a:cs typeface="Arial"/>
              </a:rPr>
              <a:t>2.3, 3.1 un 3.2 prasa salīdzinājumu ar novērojumiem un vēsturisko fonu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B7317D-FC6F-4514-9B41-D1811763D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95550"/>
            <a:ext cx="2190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8"/>
          </a:solidFill>
          <a:ln xmlns:a="http://schemas.openxmlformats.org/drawingml/2006/main" w="9525">
            <a:solidFill>
              <a:srgbClr val="C7D7E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83C6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3C66"/>
                </a:solidFill>
                <a:latin typeface="Arial"/>
                <a:ea typeface="Arial"/>
                <a:cs typeface="Arial"/>
              </a:rPr>
              <a:t>Stacija pret gridu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285433-1857-4B14-8327-AEE2FE688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95550"/>
            <a:ext cx="2190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1DC"/>
          </a:solidFill>
          <a:ln xmlns:a="http://schemas.openxmlformats.org/drawingml/2006/main" w="9525">
            <a:solidFill>
              <a:srgbClr val="C7D7E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83C6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3C66"/>
                </a:solidFill>
                <a:latin typeface="Arial"/>
                <a:ea typeface="Arial"/>
                <a:cs typeface="Arial"/>
              </a:rPr>
              <a:t>Vēsturiskā reference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55E9A3-5945-4C7A-B16C-A3682C05C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95550"/>
            <a:ext cx="2190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C7D7E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83C6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3C66"/>
                </a:solidFill>
                <a:latin typeface="Arial"/>
                <a:ea typeface="Arial"/>
                <a:cs typeface="Arial"/>
              </a:rPr>
              <a:t>Robežvērtības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1A86AD-087F-4CE3-933E-D63CAFB74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28950"/>
            <a:ext cx="209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99702"/>
          </a:bodyPr>
          <a:lstStyle xmlns:a="http://schemas.openxmlformats.org/drawingml/2006/main"/>
          <a:p xmlns:a="http://schemas.openxmlformats.org/drawingml/2006/main">
            <a:pPr marL="228600" indent="-101600">
              <a:spcAft>
                <a:spcPts val="600"/>
              </a:spcAft>
              <a:buChar char="•"/>
              <a:defRPr sz="120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42735"/>
                </a:solidFill>
                <a:latin typeface="Arial"/>
                <a:ea typeface="Arial"/>
                <a:cs typeface="Arial"/>
              </a:rPr>
              <a:t>Tuvākā grid šūna vai 3x3 šūnu logs ap staciju.</a:t>
            </a:r>
          </a:p>
          <a:p xmlns:a="http://schemas.openxmlformats.org/drawingml/2006/main">
            <a:pPr marL="228600" indent="-101600">
              <a:spcAft>
                <a:spcPts val="600"/>
              </a:spcAft>
              <a:buChar char="•"/>
              <a:defRPr sz="120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42735"/>
                </a:solidFill>
                <a:latin typeface="Arial"/>
                <a:ea typeface="Arial"/>
                <a:cs typeface="Arial"/>
              </a:rPr>
              <a:t>SSM/SWI salīdzinājums ar augsnes mitrumu un temperatūru.</a:t>
            </a:r>
          </a:p>
          <a:p xmlns:a="http://schemas.openxmlformats.org/drawingml/2006/main">
            <a:pPr marL="228600" indent="-101600">
              <a:spcAft>
                <a:spcPts val="600"/>
              </a:spcAft>
              <a:buChar char="•"/>
              <a:defRPr sz="120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42735"/>
                </a:solidFill>
                <a:latin typeface="Arial"/>
                <a:ea typeface="Arial"/>
                <a:cs typeface="Arial"/>
              </a:rPr>
              <a:t>Kvalitātes pazīmes pie katra datuma.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AE170C-E060-4340-94CC-72FF3B3F1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028950"/>
            <a:ext cx="209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01600">
              <a:spcAft>
                <a:spcPts val="600"/>
              </a:spcAft>
              <a:buChar char="•"/>
              <a:defRPr sz="120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42735"/>
                </a:solidFill>
                <a:latin typeface="Arial"/>
                <a:ea typeface="Arial"/>
                <a:cs typeface="Arial"/>
              </a:rPr>
              <a:t>Sezona un reģions jāņem vērā.</a:t>
            </a:r>
          </a:p>
          <a:p xmlns:a="http://schemas.openxmlformats.org/drawingml/2006/main">
            <a:pPr marL="228600" indent="-101600">
              <a:spcAft>
                <a:spcPts val="600"/>
              </a:spcAft>
              <a:buChar char="•"/>
              <a:defRPr sz="120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42735"/>
                </a:solidFill>
                <a:latin typeface="Arial"/>
                <a:ea typeface="Arial"/>
                <a:cs typeface="Arial"/>
              </a:rPr>
              <a:t>P30/P90/P730 var pārvērst percentilēs.</a:t>
            </a:r>
          </a:p>
          <a:p xmlns:a="http://schemas.openxmlformats.org/drawingml/2006/main">
            <a:pPr marL="228600" indent="-101600">
              <a:spcAft>
                <a:spcPts val="600"/>
              </a:spcAft>
              <a:buChar char="•"/>
              <a:defRPr sz="120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42735"/>
                </a:solidFill>
                <a:latin typeface="Arial"/>
                <a:ea typeface="Arial"/>
                <a:cs typeface="Arial"/>
              </a:rPr>
              <a:t>SWI un H-SAF jāvērtē pret vairāku gadu fonu.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13C6BC-3A9E-4C3F-BBD0-01710E140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28950"/>
            <a:ext cx="20955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01600">
              <a:spcAft>
                <a:spcPts val="600"/>
              </a:spcAft>
              <a:buChar char="•"/>
              <a:defRPr sz="120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42735"/>
                </a:solidFill>
                <a:latin typeface="Arial"/>
                <a:ea typeface="Arial"/>
                <a:cs typeface="Arial"/>
              </a:rPr>
              <a:t>Pārmitra un sasalusi augsne jādefinē atsevišķi.</a:t>
            </a:r>
          </a:p>
          <a:p xmlns:a="http://schemas.openxmlformats.org/drawingml/2006/main">
            <a:pPr marL="228600" indent="-101600">
              <a:spcAft>
                <a:spcPts val="600"/>
              </a:spcAft>
              <a:buChar char="•"/>
              <a:defRPr sz="120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42735"/>
                </a:solidFill>
                <a:latin typeface="Arial"/>
                <a:ea typeface="Arial"/>
                <a:cs typeface="Arial"/>
              </a:rPr>
              <a:t>Juridiskais hard-stop jāglabā atsevišķi no hidroloģiskā riska.</a:t>
            </a:r>
          </a:p>
          <a:p xmlns:a="http://schemas.openxmlformats.org/drawingml/2006/main">
            <a:pPr marL="228600" indent="-101600">
              <a:spcAft>
                <a:spcPts val="600"/>
              </a:spcAft>
              <a:buChar char="•"/>
              <a:defRPr sz="120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42735"/>
                </a:solidFill>
                <a:latin typeface="Arial"/>
                <a:ea typeface="Arial"/>
                <a:cs typeface="Arial"/>
              </a:rPr>
              <a:t>LBTU dati palīdz pārbaudīt N/P zudumu epizodes.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D5F9DC-6120-4F77-B439-ADA49AC64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42735"/>
                </a:solidFill>
                <a:latin typeface="Arial"/>
                <a:ea typeface="Arial"/>
                <a:cs typeface="Arial"/>
              </a:rPr>
              <a:t>Rezultāts: metodika, kas ir izskaidrojama arī tad, ja dati kavējas vai viens avots uz konkrētu dienu nav pieejams.</a:t>
            </a:r>
          </a:p>
        </p:txBody>
      </p:sp>
    </p:spTree>
    <p:extLst>
      <p:ext uri="{BB962C8B-B14F-4D97-AF65-F5344CB8AC3E}">
        <p14:creationId xmlns:p14="http://schemas.microsoft.com/office/powerpoint/2010/main" val="148595767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7c709c5aca468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386DDA-1CC7-4EEE-8F8F-BB766607B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8795A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8795AD"/>
                </a:solidFill>
                <a:latin typeface="Arial"/>
                <a:ea typeface="Arial"/>
                <a:cs typeface="Arial"/>
              </a:rPr>
              <a:t>Demonstrācijas teksts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B34891-F020-4738-94F6-0ED879901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5151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8795A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8795AD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4C7238-A453-46A8-9CBF-BF50BBA18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90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04B87"/>
                </a:solidFill>
                <a:latin typeface="Arial"/>
                <a:ea typeface="Arial"/>
                <a:cs typeface="Arial"/>
              </a:rPr>
              <a:t>Ko tieši parādīt ZM sapulcē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1EF063-88E0-4771-805A-3B25F00ED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6690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58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58A"/>
                </a:solidFill>
                <a:latin typeface="Arial"/>
                <a:ea typeface="Arial"/>
                <a:cs typeface="Arial"/>
              </a:rPr>
              <a:t>Īsa demonstrācijas secība, ja būs jārunā un jārāda saite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A90757-05FE-4E82-81E2-E944138CD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400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7E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83C6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3C6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AC6372-B8C0-432C-B5F8-6846BA531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812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04B87"/>
                </a:solidFill>
                <a:latin typeface="Arial"/>
                <a:ea typeface="Arial"/>
                <a:cs typeface="Arial"/>
              </a:rPr>
              <a:t>Atvērt saiti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9D2C4C-3771-467A-AB4C-C16A47C71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00300"/>
            <a:ext cx="4552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42735"/>
                </a:solidFill>
                <a:latin typeface="Arial"/>
                <a:ea typeface="Arial"/>
                <a:cs typeface="Arial"/>
              </a:rPr>
              <a:t>https://dboka.github.io/KIRI/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86CF45-C9AE-4B32-A1EC-956154A72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52750"/>
            <a:ext cx="400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7E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83C6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3C6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B5D385-E7E7-4838-8BE9-721F3B2EB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718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04B87"/>
                </a:solidFill>
                <a:latin typeface="Arial"/>
                <a:ea typeface="Arial"/>
                <a:cs typeface="Arial"/>
              </a:rPr>
              <a:t>Parādīt datumu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A42EB4-9283-49CF-A5A4-7283D0BA3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90850"/>
            <a:ext cx="4552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42735"/>
                </a:solidFill>
                <a:latin typeface="Arial"/>
                <a:ea typeface="Arial"/>
                <a:cs typeface="Arial"/>
              </a:rPr>
              <a:t>60 dienu kalendārs, jaunākais datums un SWI kavēšanās atzīme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18384D-17FE-4D02-B280-8F6F8AE10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43300"/>
            <a:ext cx="400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7E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83C6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3C6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DE8F02-8A6E-479F-95D9-E96E5C3DA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623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04B87"/>
                </a:solidFill>
                <a:latin typeface="Arial"/>
                <a:ea typeface="Arial"/>
                <a:cs typeface="Arial"/>
              </a:rPr>
              <a:t>Klikšķināt uz novada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18C2B9-93E1-4BD0-AA6F-C55A2D8BD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581400"/>
            <a:ext cx="4552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42735"/>
                </a:solidFill>
                <a:latin typeface="Arial"/>
                <a:ea typeface="Arial"/>
                <a:cs typeface="Arial"/>
              </a:rPr>
              <a:t>Pašvaldības risku nomaina 1 km grid detalizācija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A064CE-B18E-4FFF-A90D-079DD5AC4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33850"/>
            <a:ext cx="400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7E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83C6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3C66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7B6392-2BF2-4B18-A7D5-6283F5999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529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04B87"/>
                </a:solidFill>
                <a:latin typeface="Arial"/>
                <a:ea typeface="Arial"/>
                <a:cs typeface="Arial"/>
              </a:rPr>
              <a:t>Klikšķināt uz šūnas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ABE500-7BB5-4996-9073-AF9E3C6AB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171950"/>
            <a:ext cx="4552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42735"/>
                </a:solidFill>
                <a:latin typeface="Arial"/>
                <a:ea typeface="Arial"/>
                <a:cs typeface="Arial"/>
              </a:rPr>
              <a:t>Parādās indikatori, reason codes un rekomendācija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FCC3C2-34EA-4F50-8ABA-1EC38BE77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24400"/>
            <a:ext cx="400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7E6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83C6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3C66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96CF84-1709-43DA-B9EE-47E946D3E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7434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04B87"/>
                </a:solidFill>
                <a:latin typeface="Arial"/>
                <a:ea typeface="Arial"/>
                <a:cs typeface="Arial"/>
              </a:rPr>
              <a:t>Noslēgt ar metodiku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394752-97FA-4BAE-82B4-82B6DCD5B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762500"/>
            <a:ext cx="4552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42735"/>
                </a:solidFill>
                <a:latin typeface="Arial"/>
                <a:ea typeface="Arial"/>
                <a:cs typeface="Arial"/>
              </a:rPr>
              <a:t>Ko vajag saskaņot, lai pilots kļūst par oficiālu rīku</a:t>
            </a:r>
          </a:p>
        </p:txBody>
      </p:sp>
    </p:spTree>
    <p:extLst>
      <p:ext uri="{BB962C8B-B14F-4D97-AF65-F5344CB8AC3E}">
        <p14:creationId xmlns:p14="http://schemas.microsoft.com/office/powerpoint/2010/main" val="5809361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94524975584c1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861308-FA0D-4AEA-87C0-905E519E2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8795A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8795AD"/>
                </a:solidFill>
                <a:latin typeface="Arial"/>
                <a:ea typeface="Arial"/>
                <a:cs typeface="Arial"/>
              </a:rPr>
              <a:t>Nākamie lēmumi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BAAEA2-B777-4415-AA4C-E6AA1FFF0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5151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8795A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8795AD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48BB36-74A4-4D2D-98F1-D1FB97E52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790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04B87"/>
                </a:solidFill>
                <a:latin typeface="Arial"/>
                <a:ea typeface="Arial"/>
                <a:cs typeface="Arial"/>
              </a:rPr>
              <a:t>Jautājumi, kurus vajag nofiksēt ar ZM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00E685-29AC-4056-9B00-80E891E1C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6690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6758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58A"/>
                </a:solidFill>
                <a:latin typeface="Arial"/>
                <a:ea typeface="Arial"/>
                <a:cs typeface="Arial"/>
              </a:rPr>
              <a:t>Pēc demonstrācijas vajadzīgs kopīgs metodikas un datu piekļuves rāmis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A3800E-590B-44BF-8BB2-44A7C9776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95550"/>
            <a:ext cx="7239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01600">
              <a:spcAft>
                <a:spcPts val="1000"/>
              </a:spcAft>
              <a:buChar char="•"/>
              <a:defRPr sz="150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42735"/>
                </a:solidFill>
                <a:latin typeface="Arial"/>
                <a:ea typeface="Arial"/>
                <a:cs typeface="Arial"/>
              </a:rPr>
              <a:t>Kuras robežvērtības ZM vēlas redzēt kā metodiski apstiprināmas pirmajā posmā.</a:t>
            </a:r>
          </a:p>
          <a:p xmlns:a="http://schemas.openxmlformats.org/drawingml/2006/main">
            <a:pPr marL="228600" indent="-101600">
              <a:spcAft>
                <a:spcPts val="1000"/>
              </a:spcAft>
              <a:buChar char="•"/>
              <a:defRPr sz="150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42735"/>
                </a:solidFill>
                <a:latin typeface="Arial"/>
                <a:ea typeface="Arial"/>
                <a:cs typeface="Arial"/>
              </a:rPr>
              <a:t>Kā piekļūt un izmantot 10 LVĢMC augsnes mitruma un temperatūras staciju datus validācijai.</a:t>
            </a:r>
          </a:p>
          <a:p xmlns:a="http://schemas.openxmlformats.org/drawingml/2006/main">
            <a:pPr marL="228600" indent="-101600">
              <a:spcAft>
                <a:spcPts val="1000"/>
              </a:spcAft>
              <a:buChar char="•"/>
              <a:defRPr sz="150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42735"/>
                </a:solidFill>
                <a:latin typeface="Arial"/>
                <a:ea typeface="Arial"/>
                <a:cs typeface="Arial"/>
              </a:rPr>
              <a:t>Kuri normatīvie hard-stop noteikumi jāievieš kā atsevišķs konfigurējams slānis.</a:t>
            </a:r>
          </a:p>
          <a:p xmlns:a="http://schemas.openxmlformats.org/drawingml/2006/main">
            <a:pPr marL="228600" indent="-101600">
              <a:spcAft>
                <a:spcPts val="1000"/>
              </a:spcAft>
              <a:buChar char="•"/>
              <a:defRPr sz="150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42735"/>
                </a:solidFill>
                <a:latin typeface="Arial"/>
                <a:ea typeface="Arial"/>
                <a:cs typeface="Arial"/>
              </a:rPr>
              <a:t>Kāds ir minimālais pilots, ko var demonstrēt nākamajā projekta starpposmā.</a:t>
            </a:r>
          </a:p>
          <a:p xmlns:a="http://schemas.openxmlformats.org/drawingml/2006/main">
            <a:pPr marL="228600" indent="-101600">
              <a:spcAft>
                <a:spcPts val="1000"/>
              </a:spcAft>
              <a:buChar char="•"/>
              <a:defRPr sz="150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42735"/>
                </a:solidFill>
                <a:latin typeface="Arial"/>
                <a:ea typeface="Arial"/>
                <a:cs typeface="Arial"/>
              </a:rPr>
              <a:t>Kā sadalīt lomas starp LVĢMC, ZM un LBTU sliekšņu validācijai un N/P riska pārbaudei.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87B8BC-A675-4037-9B7D-8D457ECFF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57800"/>
            <a:ext cx="7029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04B8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04B87"/>
                </a:solidFill>
                <a:latin typeface="Arial"/>
                <a:ea typeface="Arial"/>
                <a:cs typeface="Arial"/>
              </a:rPr>
              <a:t>Mans ieteikums sapulces noslēgumam: vienoties par datu validācijas protokolu un robežvērtību darba grupu.</a:t>
            </a:r>
          </a:p>
        </p:txBody>
      </p:sp>
    </p:spTree>
    <p:extLst>
      <p:ext uri="{BB962C8B-B14F-4D97-AF65-F5344CB8AC3E}">
        <p14:creationId xmlns:p14="http://schemas.microsoft.com/office/powerpoint/2010/main" val="19929493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2026-09-07T08:16:48.8950000Z</dcterms:created>
  <dcterms:modified xsi:type="dcterms:W3CDTF">2026-09-07T08:16:48.8950000Z</dcterms:modified>
</coreProperties>
</file>