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24b6efed4e4112" /><Relationship Type="http://schemas.openxmlformats.org/officeDocument/2006/relationships/extended-properties" Target="/docProps/app.xml" Id="R03a207df67ac400b" /><Relationship Type="http://schemas.openxmlformats.org/officeDocument/2006/relationships/officeDocument" Target="/ppt/presentation.xml" Id="R0c60bdbbc032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eab7954b44090"/>
  </p:sldMasterIdLst>
  <p:notesMasterIdLst>
    <p:notesMasterId xmlns:r="http://schemas.openxmlformats.org/officeDocument/2006/relationships" r:id="Redc682a82ac4464d"/>
  </p:notesMasterIdLst>
  <p:sldIdLst>
    <p:sldId xmlns:r="http://schemas.openxmlformats.org/officeDocument/2006/relationships" id="256" r:id="R764dabdcea6e489d"/>
    <p:sldId xmlns:r="http://schemas.openxmlformats.org/officeDocument/2006/relationships" id="257" r:id="R7e0f20e947674beb"/>
    <p:sldId xmlns:r="http://schemas.openxmlformats.org/officeDocument/2006/relationships" id="258" r:id="R9b02eba953664072"/>
    <p:sldId xmlns:r="http://schemas.openxmlformats.org/officeDocument/2006/relationships" id="259" r:id="Rca4986cec36943f5"/>
    <p:sldId xmlns:r="http://schemas.openxmlformats.org/officeDocument/2006/relationships" id="260" r:id="R9f568e6ca5fa4bd4"/>
    <p:sldId xmlns:r="http://schemas.openxmlformats.org/officeDocument/2006/relationships" id="261" r:id="Radc70b4b0eb34932"/>
    <p:sldId xmlns:r="http://schemas.openxmlformats.org/officeDocument/2006/relationships" id="262" r:id="Rce3d1eb762994005"/>
    <p:sldId xmlns:r="http://schemas.openxmlformats.org/officeDocument/2006/relationships" id="263" r:id="Rab8a304265784b3e"/>
    <p:sldId xmlns:r="http://schemas.openxmlformats.org/officeDocument/2006/relationships" id="264" r:id="R771ab7e02dcd47b3"/>
    <p:sldId xmlns:r="http://schemas.openxmlformats.org/officeDocument/2006/relationships" id="265" r:id="Rbb74435220de41e6"/>
    <p:sldId xmlns:r="http://schemas.openxmlformats.org/officeDocument/2006/relationships" id="266" r:id="Rb3398c066f594dfe"/>
    <p:sldId xmlns:r="http://schemas.openxmlformats.org/officeDocument/2006/relationships" id="267" r:id="R80eb8327039749ab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ebd2834214d62" /><Relationship Type="http://schemas.openxmlformats.org/officeDocument/2006/relationships/slideMaster" Target="/ppt/slideMasters/slideMaster1.xml" Id="Rf8eeab7954b44090" /><Relationship Type="http://schemas.openxmlformats.org/officeDocument/2006/relationships/notesMaster" Target="/ppt/notesMasters/notesMaster1.xml" Id="Redc682a82ac4464d" /><Relationship Type="http://schemas.openxmlformats.org/officeDocument/2006/relationships/presProps" Target="/ppt/presProps.xml" Id="R608ba044b0344ba9" /><Relationship Type="http://schemas.openxmlformats.org/officeDocument/2006/relationships/tableStyles" Target="/ppt/tableStyles.xml" Id="Rf1a0f258dc3d4c8c" /><Relationship Type="http://schemas.openxmlformats.org/officeDocument/2006/relationships/slide" Target="/ppt/slides/slide1.xml" Id="R764dabdcea6e489d" /><Relationship Type="http://schemas.openxmlformats.org/officeDocument/2006/relationships/slide" Target="/ppt/slides/slide2.xml" Id="R7e0f20e947674beb" /><Relationship Type="http://schemas.openxmlformats.org/officeDocument/2006/relationships/slide" Target="/ppt/slides/slide3.xml" Id="R9b02eba953664072" /><Relationship Type="http://schemas.openxmlformats.org/officeDocument/2006/relationships/slide" Target="/ppt/slides/slide4.xml" Id="Rca4986cec36943f5" /><Relationship Type="http://schemas.openxmlformats.org/officeDocument/2006/relationships/slide" Target="/ppt/slides/slide5.xml" Id="R9f568e6ca5fa4bd4" /><Relationship Type="http://schemas.openxmlformats.org/officeDocument/2006/relationships/slide" Target="/ppt/slides/slide6.xml" Id="Radc70b4b0eb34932" /><Relationship Type="http://schemas.openxmlformats.org/officeDocument/2006/relationships/slide" Target="/ppt/slides/slide7.xml" Id="Rce3d1eb762994005" /><Relationship Type="http://schemas.openxmlformats.org/officeDocument/2006/relationships/slide" Target="/ppt/slides/slide8.xml" Id="Rab8a304265784b3e" /><Relationship Type="http://schemas.openxmlformats.org/officeDocument/2006/relationships/slide" Target="/ppt/slides/slide9.xml" Id="R771ab7e02dcd47b3" /><Relationship Type="http://schemas.openxmlformats.org/officeDocument/2006/relationships/slide" Target="/ppt/slides/slide10.xml" Id="Rbb74435220de41e6" /><Relationship Type="http://schemas.openxmlformats.org/officeDocument/2006/relationships/slide" Target="/ppt/slides/slide11.xml" Id="Rb3398c066f594dfe" /><Relationship Type="http://schemas.openxmlformats.org/officeDocument/2006/relationships/slide" Target="/ppt/slides/slide12.xml" Id="R80eb83270397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9e25b9761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225703d416492c" /><Relationship Type="http://schemas.openxmlformats.org/officeDocument/2006/relationships/notesMaster" Target="/ppt/notesMasters/notesMaster1.xml" Id="Rb7d5fccf7cb741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07a3cd822143a5" /><Relationship Type="http://schemas.openxmlformats.org/officeDocument/2006/relationships/notesMaster" Target="/ppt/notesMasters/notesMaster1.xml" Id="R879f1fba83544b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57ed4d0c1043c0" /><Relationship Type="http://schemas.openxmlformats.org/officeDocument/2006/relationships/notesMaster" Target="/ppt/notesMasters/notesMaster1.xml" Id="R03f03191ce5447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e335e962204b75" /><Relationship Type="http://schemas.openxmlformats.org/officeDocument/2006/relationships/notesMaster" Target="/ppt/notesMasters/notesMaster1.xml" Id="R49a447654f3f41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3145c8abf4647" /><Relationship Type="http://schemas.openxmlformats.org/officeDocument/2006/relationships/notesMaster" Target="/ppt/notesMasters/notesMaster1.xml" Id="R947ebadcd52147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9fdf0bd3a472f" /><Relationship Type="http://schemas.openxmlformats.org/officeDocument/2006/relationships/notesMaster" Target="/ppt/notesMasters/notesMaster1.xml" Id="R0d25fb15cc8f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58a91a4fcd4437" /><Relationship Type="http://schemas.openxmlformats.org/officeDocument/2006/relationships/notesMaster" Target="/ppt/notesMasters/notesMaster1.xml" Id="R1f670a75544b43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b27df2664432c" /><Relationship Type="http://schemas.openxmlformats.org/officeDocument/2006/relationships/notesMaster" Target="/ppt/notesMasters/notesMaster1.xml" Id="R9ceecda7271640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863e3f10c34159" /><Relationship Type="http://schemas.openxmlformats.org/officeDocument/2006/relationships/notesMaster" Target="/ppt/notesMasters/notesMaster1.xml" Id="R0a1dc07b5f4640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bdb0a3b72642ab" /><Relationship Type="http://schemas.openxmlformats.org/officeDocument/2006/relationships/notesMaster" Target="/ppt/notesMasters/notesMaster1.xml" Id="R6b72c6d7c84f47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2859ca6b1b4381" /><Relationship Type="http://schemas.openxmlformats.org/officeDocument/2006/relationships/notesMaster" Target="/ppt/notesMasters/notesMaster1.xml" Id="R468d374fbd7441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3fd83e888b4e00" /><Relationship Type="http://schemas.openxmlformats.org/officeDocument/2006/relationships/notesMaster" Target="/ppt/notesMasters/notesMaster1.xml" Id="R7fed4b31bdb245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Sāku ar ļoti īsu rāmi: šis nav gala normatīvais instruments, bet pirmais aizstāvamais pilots.</a:t>
            </a:r>
          </a:p>
          <a:p xmlns:a="http://schemas.openxmlformats.org/drawingml/2006/main">
            <a:r>
              <a:t>Mērķis sapulcei ir parādīt, kādus datus esmu atradis, kā esmu tos salicis vienā ķēdē un kā jau darbojas karte.</a:t>
            </a:r>
          </a:p>
          <a:p xmlns:a="http://schemas.openxmlformats.org/drawingml/2006/main">
            <a:r>
              <a:t>Lūgums ZM pusē būs palīdzēt nofiksēt metodikas un normatīvos jautājumus, lai pilotu var pārvērst oficiāli izmantojamā rīkā.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Šeit varu pateikt: esmu koncentrējies uz to, kas vajadzīgs pirmajai sapulcei, nevis uz pilnu gala sistēmu.</a:t>
            </a:r>
          </a:p>
          <a:p xmlns:a="http://schemas.openxmlformats.org/drawingml/2006/main">
            <a:r>
              <a:t>Svarīgākais ir pierādīt datu ķēdi. Mums jau ir kartes prototips, kur lietotājs izvēlas datumu, redz pašvaldības kopējo risku un var atvērt 1 km detalizāciju.</a:t>
            </a:r>
          </a:p>
          <a:p xmlns:a="http://schemas.openxmlformats.org/drawingml/2006/main">
            <a:r>
              <a:t>Skaitļi šajā slaidā nāk no pašreizējā frontend datu laidiena.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C:/Users/deniss.boka/Downloads/Darbu_plans.xlsx</a:t>
            </a:r>
          </a:p>
          <a:p xmlns:a="http://schemas.openxmlformats.org/drawingml/2006/main">
            <a:r>
              <a:t>C:/Users/deniss.boka/MESLI_PROJECT/KIRI/GRID_SAGATAVE/frontend/data/data_metadata.json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slaidu izmantoju, lai ātri piesaistītu prezentāciju darba plānam.</a:t>
            </a:r>
          </a:p>
          <a:p xmlns:a="http://schemas.openxmlformats.org/drawingml/2006/main">
            <a:r>
              <a:t>Es nerunāju abstrakti par satelītiem. Katru darba plāna punktu mēģinu sasaistīt ar kaut ko, ko var parādīt prototipā.</a:t>
            </a:r>
          </a:p>
          <a:p xmlns:a="http://schemas.openxmlformats.org/drawingml/2006/main">
            <a:r>
              <a:t>3.1 un 3.2 vēl ir nākamais metodiskais posms: vajag vēsturisko references periodu un sliekšņu saskaņošanu ar monitoringa datiem.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C:/Users/deniss.boka/Downloads/Darbu_plans.xlsx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Galvenais vēstījums: mums nav jāizdomā datu pasaule no nulles. Ir trīs praktiski avoti pirmajai versijai: nokrišņi, H-SAF SSM un Copernicus SWI.</a:t>
            </a:r>
          </a:p>
          <a:p xmlns:a="http://schemas.openxmlformats.org/drawingml/2006/main">
            <a:r>
              <a:t>H-SAF dod neatkarīgu virsmas mitruma signālu. Copernicus SWI dod ikdienas 1 km Eiropas produktu, kas ir ļoti ērts operacionālai kartei.</a:t>
            </a:r>
          </a:p>
          <a:p xmlns:a="http://schemas.openxmlformats.org/drawingml/2006/main">
            <a:r>
              <a:t>Stacijas un LBTU dati vajadzīgi ne tikai papildu slāņiem, bet arī uzticamai validācijai.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EUMETSAT H28 catalog: https://user.eumetsat.int/catalogue/EO:EUM:DAT:1032</a:t>
            </a:r>
          </a:p>
          <a:p xmlns:a="http://schemas.openxmlformats.org/drawingml/2006/main">
            <a:r>
              <a:t>EUMETSAT H28 EUMETCast notice: https://user.eumetsat.int/news-events/news/new-h-saf-ascat-surface-soil-moisture-h28-product-on-eumet-cast</a:t>
            </a:r>
          </a:p>
          <a:p xmlns:a="http://schemas.openxmlformats.org/drawingml/2006/main">
            <a:r>
              <a:t>EUMETSAT H29 EUMETCast notice: https://user.eumetsat.int/news-events/news/new-h-saf-ascat-surface-soil-moisture-h29-product-on-eumet-cast</a:t>
            </a:r>
          </a:p>
          <a:p xmlns:a="http://schemas.openxmlformats.org/drawingml/2006/main">
            <a:r>
              <a:t>H-SAF soil moisture: https://hsaf.meteoam.it/products/soil-moisture</a:t>
            </a:r>
          </a:p>
          <a:p xmlns:a="http://schemas.openxmlformats.org/drawingml/2006/main">
            <a:r>
              <a:t>Copernicus SWI v2: https://land.copernicus.eu/en/products/soil-moisture/daily-soil-water-index-europe-1km-v2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tehniskais slaids, bet to var izstāstīt vienkārši: dati ienāk no avotiem, tiek salikti vienā režģī, aprēķināti un publicēti kartē.</a:t>
            </a:r>
          </a:p>
          <a:p xmlns:a="http://schemas.openxmlformats.org/drawingml/2006/main">
            <a:r>
              <a:t>Ļoti svarīgi ZM sapulcei: rīks nav vienreizēja bilde. Tas ir datu process, ko var atkārtot katru dienu.</a:t>
            </a:r>
          </a:p>
          <a:p xmlns:a="http://schemas.openxmlformats.org/drawingml/2006/main">
            <a:r>
              <a:t>Pašreizējā arhitektūra samazina failu apjomu, jo ģeometrija nav jāglabā katram datumam no jauna.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C:/Users/deniss.boka/MESLI_PROJECT/KIRI/GRID_SAGATAVE/ARCHITECTURE.md</a:t>
            </a:r>
          </a:p>
          <a:p xmlns:a="http://schemas.openxmlformats.org/drawingml/2006/main">
            <a:r>
              <a:t>C:/Users/deniss.boka/MESLI_PROJECT/KIRI/GRID_SAGATAVE/README.md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slaidu izmantoju, lai parādītu, ka no prototipa datiem var iegūt arī analītiku, ne tikai karti.</a:t>
            </a:r>
          </a:p>
          <a:p xmlns:a="http://schemas.openxmlformats.org/drawingml/2006/main">
            <a:r>
              <a:t>Izvēlēti daži datumi no 60 dienu loga, lai redzētu dinamiku. Precīzākai metodikai vēl jāiet uz vēsturisko references periodu.</a:t>
            </a:r>
          </a:p>
          <a:p xmlns:a="http://schemas.openxmlformats.org/drawingml/2006/main">
            <a:r>
              <a:t>2026-09-06 93 procenti redzamo šūnu ir 4. vai 5. līmenī. Tas nav juridisks aizliegums, bet riska signāls pēc pašreizējās pilotmetodikas.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C:/Users/deniss.boka/MESLI_PROJECT/KIRI/GRID_SAGATAVE/frontend/data/calendar_manifest.json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Šajā brīdī sapulcē var atvērt saiti un parādīt dzīvo prototipu.</a:t>
            </a:r>
          </a:p>
          <a:p xmlns:a="http://schemas.openxmlformats.org/drawingml/2006/main">
            <a:r>
              <a:t>Es sāku no Latvijas kartes. Te nav sarežģītu slāņu pārslēgu. Mērķis ir, lai lietotājs uzreiz saprot, kur šodien vai izvēlētajā datumā ir augstāks risks.</a:t>
            </a:r>
          </a:p>
          <a:p xmlns:a="http://schemas.openxmlformats.org/drawingml/2006/main">
            <a:r>
              <a:t>Datuma izvēlē redzams arī kvalitātes signāls. Ja SWI kavējas, rīks to parāda.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https://dboka.github.io/KIRI/</a:t>
            </a:r>
          </a:p>
          <a:p xmlns:a="http://schemas.openxmlformats.org/drawingml/2006/main">
            <a:r>
              <a:t>Lokālais ekrānattēls no GRID_SAGATAVE/frontend, uzņemts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praktiskākais slaids. Te parādu, ka karte nav tikai pašvaldības vidējā vērtība.</a:t>
            </a:r>
          </a:p>
          <a:p xmlns:a="http://schemas.openxmlformats.org/drawingml/2006/main">
            <a:r>
              <a:t>Klikšķis uz novada atver grid skatu. Klikšķis uz šūnas parāda konkrētos indikatorus un iemeslus.</a:t>
            </a:r>
          </a:p>
          <a:p xmlns:a="http://schemas.openxmlformats.org/drawingml/2006/main">
            <a:r>
              <a:t>Tas palīdz aizstāvēt pieeju: lēmumu var komunicēt pašvaldību līmenī, bet aprēķinu turēt telpiski detalizētu.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Lokālais ekrānattēls no GRID_SAGATAVE/frontend, uzņemts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Šeit necenšos pārdot sliekšņus kā galīgus. Godīgi saku: pilotā ir strādājoša loģika, kas ļauj testēt rezultātu.</a:t>
            </a:r>
          </a:p>
          <a:p xmlns:a="http://schemas.openxmlformats.org/drawingml/2006/main">
            <a:r>
              <a:t>Nākamais zinātniskais darbs ir robežvērtības. Tās jānosaka no vēsturiskajiem datiem, stacijām un monitoringa rezultātiem.</a:t>
            </a:r>
          </a:p>
          <a:p xmlns:a="http://schemas.openxmlformats.org/drawingml/2006/main">
            <a:r>
              <a:t>Manuprāt, ZM sapulcē tas ir jāpārvērš par darba uzdevumu, nevis par strīdu par vienu konkrētu skaitli.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C:/Users/deniss.boka/MESLI_PROJECT/KIRI/GRID_SAGATAVE/config/normalization_v01.yaml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metodikas slaids. Galvenais teikt: satelītu dati jāvalidē, un pilots jau sagatavo datu struktūru šādai validācijai.</a:t>
            </a:r>
          </a:p>
          <a:p xmlns:a="http://schemas.openxmlformats.org/drawingml/2006/main">
            <a:r>
              <a:t>Salīdzinājumam nevajag tikai vienu punktu kartē. Var lietot tuvāko grid šūnu vai 3x3 apkārtni, lai mazinātu ģeolokācijas un mēroga atšķirības.</a:t>
            </a:r>
          </a:p>
          <a:p xmlns:a="http://schemas.openxmlformats.org/drawingml/2006/main">
            <a:r>
              <a:t>Robežvērtības pārmitrumam un sasalumam jābalsta datos. Juridiskais aizliegums jānodala no riska indeksa.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var lietot kā tiešo demonstrācijas špikeri.</a:t>
            </a:r>
          </a:p>
          <a:p xmlns:a="http://schemas.openxmlformats.org/drawingml/2006/main">
            <a:r>
              <a:t>Es atveru saiti, parādu, ka kartē ir datuma izvēle, tad izvēlos konkrētu pašvaldību un vienu grid šūnu.</a:t>
            </a:r>
          </a:p>
          <a:p xmlns:a="http://schemas.openxmlformats.org/drawingml/2006/main">
            <a:r>
              <a:t>Svarīgi nerunāt pārāk ilgi par katru pogu. Galvenais ir parādīt datu ceļu no avotiem līdz lēmuma atbalstam.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Noslēdzu ar praktiskiem jautājumiem.</a:t>
            </a:r>
          </a:p>
          <a:p xmlns:a="http://schemas.openxmlformats.org/drawingml/2006/main">
            <a:r>
              <a:t>Es prasītu nevis vispārīgu atbalstu, bet konkrētu nākamo soli: validācijas protokols, staciju dati un robežvērtību saskaņošana.</a:t>
            </a:r>
          </a:p>
          <a:p xmlns:a="http://schemas.openxmlformats.org/drawingml/2006/main">
            <a:r>
              <a:t>Tad pilots iegūst skaidru ceļu no demonstrācijas uz izmantojamu metodiku.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b305511d0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9090a8b1b141b1" /><Relationship Type="http://schemas.openxmlformats.org/officeDocument/2006/relationships/slideLayout" Target="/ppt/slideLayouts/slideLayout1.xml" Id="R689144b56dd844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9144b56dd844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37ae3ad7a491f" /><Relationship Type="http://schemas.openxmlformats.org/officeDocument/2006/relationships/image" Target="/ppt/media/image.png" Id="R3b06eaa0e3b54848" /><Relationship Type="http://schemas.openxmlformats.org/officeDocument/2006/relationships/notesSlide" Target="/ppt/notesSlides/notesSlide1.xml" Id="Rc5aa486f36ee48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e8d21d8fa41d3" /><Relationship Type="http://schemas.openxmlformats.org/officeDocument/2006/relationships/image" Target="/ppt/media/image2.png" Id="Rc60afbf75d32427e" /><Relationship Type="http://schemas.openxmlformats.org/officeDocument/2006/relationships/notesSlide" Target="/ppt/notesSlides/notesSlide2.xml" Id="R7ecbcd10138140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dd107b6c4d04" /><Relationship Type="http://schemas.openxmlformats.org/officeDocument/2006/relationships/image" Target="/ppt/media/image3.png" Id="Ra6f82767144a4b16" /><Relationship Type="http://schemas.openxmlformats.org/officeDocument/2006/relationships/notesSlide" Target="/ppt/notesSlides/notesSlide3.xml" Id="R47ef14e36e97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e1bf839294d2c" /><Relationship Type="http://schemas.openxmlformats.org/officeDocument/2006/relationships/image" Target="/ppt/media/image4.png" Id="R037ac01a6ee84489" /><Relationship Type="http://schemas.openxmlformats.org/officeDocument/2006/relationships/notesSlide" Target="/ppt/notesSlides/notesSlide4.xml" Id="R0a49e196aa5c4d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d4ee8c9a4f73" /><Relationship Type="http://schemas.openxmlformats.org/officeDocument/2006/relationships/image" Target="/ppt/media/image5.png" Id="R3b116f9652cd44d4" /><Relationship Type="http://schemas.openxmlformats.org/officeDocument/2006/relationships/notesSlide" Target="/ppt/notesSlides/notesSlide5.xml" Id="R4c3aca0b6c7447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fd109a3e9481a" /><Relationship Type="http://schemas.openxmlformats.org/officeDocument/2006/relationships/image" Target="/ppt/media/image6.png" Id="R5c6423cd82b643dc" /><Relationship Type="http://schemas.openxmlformats.org/officeDocument/2006/relationships/chart" Target="/ppt/slides/charts/chart1.xml" Id="Ree411b050c8e4544" /><Relationship Type="http://schemas.openxmlformats.org/officeDocument/2006/relationships/notesSlide" Target="/ppt/notesSlides/notesSlide6.xml" Id="R579f7c2eba9e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acb39cd3f4cae" /><Relationship Type="http://schemas.openxmlformats.org/officeDocument/2006/relationships/image" Target="/ppt/media/image7.png" Id="R438046a6e3a94f34" /><Relationship Type="http://schemas.openxmlformats.org/officeDocument/2006/relationships/image" Target="/ppt/media/image8.png" Id="Rda5f9aa25ca84dc2" /><Relationship Type="http://schemas.openxmlformats.org/officeDocument/2006/relationships/notesSlide" Target="/ppt/notesSlides/notesSlide7.xml" Id="R53028d4b543040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de2d7a8548d2" /><Relationship Type="http://schemas.openxmlformats.org/officeDocument/2006/relationships/image" Target="/ppt/media/image9.png" Id="Rb96e0b75491f4472" /><Relationship Type="http://schemas.openxmlformats.org/officeDocument/2006/relationships/image" Target="/ppt/media/image10.png" Id="Ref72bd8c25744ae8" /><Relationship Type="http://schemas.openxmlformats.org/officeDocument/2006/relationships/notesSlide" Target="/ppt/notesSlides/notesSlide8.xml" Id="R1ef8dce6268245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fb2a72ac4607" /><Relationship Type="http://schemas.openxmlformats.org/officeDocument/2006/relationships/image" Target="/ppt/media/image11.png" Id="R102a3b924fcd4b2c" /><Relationship Type="http://schemas.openxmlformats.org/officeDocument/2006/relationships/notesSlide" Target="/ppt/notesSlides/notesSlide9.xml" Id="Rc0108a40ec1840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827066e754376" /><Relationship Type="http://schemas.openxmlformats.org/officeDocument/2006/relationships/image" Target="/ppt/media/image12.png" Id="R7280673143ff46a3" /><Relationship Type="http://schemas.openxmlformats.org/officeDocument/2006/relationships/notesSlide" Target="/ppt/notesSlides/notesSlide10.xml" Id="Rc6cf0f358d6a4c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3d0f93a71419b" /><Relationship Type="http://schemas.openxmlformats.org/officeDocument/2006/relationships/image" Target="/ppt/media/image13.png" Id="R5a644ffbb0d644c8" /><Relationship Type="http://schemas.openxmlformats.org/officeDocument/2006/relationships/notesSlide" Target="/ppt/notesSlides/notesSlide11.xml" Id="Ree9b567f7e7542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8138a3cc4609" /><Relationship Type="http://schemas.openxmlformats.org/officeDocument/2006/relationships/image" Target="/ppt/media/image14.png" Id="R173a7d6974934de8" /><Relationship Type="http://schemas.openxmlformats.org/officeDocument/2006/relationships/notesSlide" Target="/ppt/notesSlides/notesSlide12.xml" Id="Re7e2cf1afba74d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Riska 4-5 šūnas, %</c:v>
          </c:tx>
          <c:spPr>
            <a:ln xmlns:a="http://schemas.openxmlformats.org/drawingml/2006/main" w="28575">
              <a:solidFill>
                <a:srgbClr val="F08A4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08A4B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07-09</c:v>
                </c:pt>
                <c:pt idx="1">
                  <c:v>07-24</c:v>
                </c:pt>
                <c:pt idx="2">
                  <c:v>08-08</c:v>
                </c:pt>
                <c:pt idx="3">
                  <c:v>08-23</c:v>
                </c:pt>
                <c:pt idx="4">
                  <c:v>09-06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92</c:v>
                </c:pt>
                <c:pt idx="1">
                  <c:v>69</c:v>
                </c:pt>
                <c:pt idx="2">
                  <c:v>19</c:v>
                </c:pt>
                <c:pt idx="3">
                  <c:v>83</c:v>
                </c:pt>
                <c:pt idx="4">
                  <c:v>93</c:v>
                </c:pt>
              </c:numCache>
            </c:numRef>
          </c:val>
        </c:ser>
        <c:ser>
          <c:idx val="1"/>
          <c:order val="1"/>
          <c:tx>
            <c:v>Riska 5 šūnas, %</c:v>
          </c:tx>
          <c:spPr>
            <a:ln xmlns:a="http://schemas.openxmlformats.org/drawingml/2006/main" w="28575">
              <a:solidFill>
                <a:srgbClr val="C94F4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94F44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07-09</c:v>
                </c:pt>
                <c:pt idx="1">
                  <c:v>07-24</c:v>
                </c:pt>
                <c:pt idx="2">
                  <c:v>08-08</c:v>
                </c:pt>
                <c:pt idx="3">
                  <c:v>08-23</c:v>
                </c:pt>
                <c:pt idx="4">
                  <c:v>09-06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43</c:v>
                </c:pt>
                <c:pt idx="4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7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6758A"/>
                    </a:solidFill>
                    <a:latin typeface="Arial"/>
                    <a:ea typeface="Arial"/>
                    <a:cs typeface="Arial"/>
                  </a:rPr>
                  <a:t>% no redzamām šūnām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675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58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6eaa0e3b548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A8B41-0ED8-45CE-B813-BD282AEE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009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300" b="0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LVĢMC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943A-2578-4671-8711-D2EF946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Kūtsmēslu izkliedes riska karte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0E1AA-A01F-46E2-B450-02EB1115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KIRI-LV pilotprojekts. Sagatavošanās sarunai ar Zemkopības ministriju 09.09.2026</a:t>
            </a:r>
          </a:p>
        </p:txBody>
      </p:sp>
    </p:spTree>
    <p:extLst>
      <p:ext uri="{BB962C8B-B14F-4D97-AF65-F5344CB8AC3E}">
        <p14:creationId xmlns:p14="http://schemas.microsoft.com/office/powerpoint/2010/main" val="1053722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afbf75d3242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CA34C-CA49-444F-AC8B-120AC31C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KIRI-LV pilots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FDDC-3BE5-4689-B17A-195AF90B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73C46-CCDA-43B0-B433-912CDF70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Kas jau ir apkopots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02ED0-6AC4-4472-9C52-D5E62006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Stāsts sapulcei: dati, aprēķins un demonstrējams karšu rīks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82CB3-6F30-4C48-9078-822CAF68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24EC2-D107-4127-AB9B-AC806A54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dienu ripojošs kalendārs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C45B5-86CE-4E7F-B709-59F31535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C72E7-9A1A-4936-84A5-AAB83B4E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pašvaldības pārskata kartē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C95A4-416B-45E1-BC1D-727C412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1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C62BA-601A-49C7-B128-17A9ACC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detalizētais aprēķina režģis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50114-4B76-48FC-8EB7-A6B03C5E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CA9BD-BDA2-474D-AAA4-71E78685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617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Darba plāna satelītu bloks 2.1-2.4 jau sasaistīts ar H-SAF, Copernicus SWI un CLIDATA nokrišņu indikatoriem.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Pilotā dati tiek normalizēti vienotā 1 km telpiskā režģī un rādīti pašvaldību līmenī ar iespēju atvērt grid skatu.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Rīks jau atdala riska līmeni, aktīvos iemeslus, konteksta iemeslus un datu pārliecības līmeni.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657E4-9E07-4600-B379-6097706E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Iekšējie avoti: Darbu_plans.xlsx, KIRI-LV projekta dokuments, GRID_SAGATAVE/frontend/data/data_metadata.json</a:t>
            </a:r>
          </a:p>
        </p:txBody>
      </p:sp>
    </p:spTree>
    <p:extLst>
      <p:ext uri="{BB962C8B-B14F-4D97-AF65-F5344CB8AC3E}">
        <p14:creationId xmlns:p14="http://schemas.microsoft.com/office/powerpoint/2010/main" val="886507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82767144a4b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D9442-66D2-43E5-9371-D15CF055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Darba plāna sasaite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EB67C-2009-4A94-BF60-022F335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00EC2-01BD-4836-B8EE-BC3D4F1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Darba plāna punkti, kurus sedz pilots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4596-3CF0-422F-9B43-B7AA89C7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Slaids sasaista ZM darba uzdevumu ar reāli pārbaudītu prototipa funkcionalitāti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2381250"/>
          <a:ext xmlns:a="http://schemas.openxmlformats.org/drawingml/2006/main" cx="80391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3764017"/>
                <a:gridCol w="3513083"/>
              </a:tblGrid>
              <a:tr h="492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Punkts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Darba plāna jēga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Pilotā jau parādāms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SSM un SWI satelītdatu ieguve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H-SAF SSM un Copernicus SWI avoti identificēti un pieslēgti datu ķēdei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2.2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Telpisks pārklājums Latvijai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 km grid slāņi, pašvaldību pārskats un dienas manifesti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Satelīts pret stacijām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Datu modelis paredz salīdzinājumu ar staciju sensoriem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2.4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Riska teritoriju algoritms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KIRI riska līmenis 1-5, reason codes un pārliecības līmenis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3.1-4.1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References, sliekšņi un digitāls rīks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60 dienu vēsture, kartes demo un nākamais sliekšņu kalibrēšanas posms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1354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ac01a6ee844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A42D6-F197-40F9-A6DD-5863CEC5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Datu avoti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7816B-9897-43C1-B1AA-7C39A095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B8F52-6CE0-47B2-99FE-EC01AFCB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Datu avotu kodols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EE90E-45A9-47A2-BB80-736859B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Pirmajai versijai pietiek ar pieciem indikatoriem, vēlāk pievieno hard-stop un hidroloģiju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65400-294C-4F3D-98CB-C9AA2868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99BE7-12B0-4580-AE04-F92B4222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CLIDATA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7DE2A-8DE3-4BD7-AF23-ED40178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P30, P90, P730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6A883-8A36-4290-803B-E0B2D1E9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Nokrišņu fons īsā, sezonālā un ilgākā periodā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9BECA-848A-467C-B854-E87CFAB4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63F86-B284-4AC3-8480-1F4DD34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H-SAF SSM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D8AC0-5BB2-4513-BB70-97D4AB40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Surface Soil Moisture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19353-0B8B-4ADC-85F6-E7E3698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Virsmas slāņa mitruma signāls zem 5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A4FB0-FA3C-48DB-AE1C-A3343551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1F606-53C7-4ED0-883D-D035C8F5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Copernicus SWI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820BD-B1FB-4912-92D5-B4E2A3D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Soil Water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A1C4D-DFAF-4789-98CA-600BF871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1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Ikdienas Eiropas 1 km režģis, profila mitruma dinamika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43927-8BEC-4DA5-805E-2933D38F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48BD9-1195-43D2-942F-427D5BDA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Stacijas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7777F-7638-468A-A2E2-14B69FF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57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07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Augsnes mitrums un temperatūra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84CA1-556C-44F3-B952-A1BDC0E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Verifikācija, sasalums un lokāls ground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6A189F-DDD6-4288-B879-524AFF60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868EC-094C-4B11-A03A-E600AA0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LBTU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BAE15-0550-4602-A99E-36C25402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Drenas, mazie baseini, N/P epizodes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2366C-0A4F-416B-8032-62DEB8F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Indeksa kalibrācija pret reālu zudumu risku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B10469-9653-4E8F-9AC7-57A47161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Ārējie avoti: EUMETSAT H-SAF, Copernicus Land Monitoring Service, LVĢMC CLIDATA</a:t>
            </a:r>
          </a:p>
        </p:txBody>
      </p:sp>
    </p:spTree>
    <p:extLst>
      <p:ext uri="{BB962C8B-B14F-4D97-AF65-F5344CB8AC3E}">
        <p14:creationId xmlns:p14="http://schemas.microsoft.com/office/powerpoint/2010/main" val="10747307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16f9652cd44d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6B39-A19B-45F9-9B83-E869C3B8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Apstrādes ķēde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63A60-1F0C-4F53-9660-7DC39E52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541B9-8397-4E17-B309-DAABBEAA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Kā dati kļūst par karti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DFBAA-C9F9-4C14-906D-F0720D43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Operatīvais prototips strādā kā reproducējama datu ķēde līdz GitHub Pages kartei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57B60-F9F3-4C54-8859-3753E9B3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9FC79-B2A1-4A45-ABCB-E058BD99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Iegūt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DBD6E-5088-4224-BEDC-69DC9C2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H-SAF, Copernicus SWI un CLIDATA avoti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00B4B-DEA2-4305-B3B9-78E68D0D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3EA05-0BF5-44F9-A006-3C615A9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5A51D-2BF8-45D3-A552-CDF560EE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Izgriezt Latviju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9E5F7-79FE-4E70-88C9-289D401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Vienots datums, CRS un 1 km režģis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74032-6B7D-4358-AF70-288D615D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BD294-E83F-4B24-9C3A-ADD8F66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F3118-3882-4F15-98BE-71DAFC94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89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Aprēķināt indikatorus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06305-F418-4F00-B798-414D639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P30/P90/P730, SSM, SWI un kvalitātes pazīmes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6365A-49B9-49CE-9808-73D95512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F987F-2D54-471F-B25D-BC530C95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016C6-24A8-4773-8E3E-F7B7C34D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4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Normalizēt risku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734EB-B0D7-4A33-8172-11BAE31E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1-5 līmeņi, aktīvie iemesli un pārliecība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5C253-8276-46FB-A331-2036E418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80DB6F-53E7-4591-9922-CDFA6ACF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BDCCE-34EE-41E4-A42A-4D03BFD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Publicēt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78CAF-7760-4D47-B17E-4C6A9D0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Pašvaldību pārskats un grid vērtības pārlūkā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DD85F7-26CE-4963-9634-22F6A69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Praktiskais ieguvums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AAE04-9C5D-41EE-B958-2127CCDB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Frontend glabā statisko grid ģeometriju vienreiz, bet katrai dienai ielādē tikai vērtības.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Dienas refresh ģenerē tikai trūkstošo datu posmu, tāpēc rīks paliek uzturams arī ar lielu datu vēsturi.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DAB986-B956-4DED-9141-1FFB15D5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Koda avoti: GRID_SAGATAVE/ARCHITECTURE.md un GRID_SAGATAVE/README.md</a:t>
            </a:r>
          </a:p>
        </p:txBody>
      </p:sp>
    </p:spTree>
    <p:extLst>
      <p:ext uri="{BB962C8B-B14F-4D97-AF65-F5344CB8AC3E}">
        <p14:creationId xmlns:p14="http://schemas.microsoft.com/office/powerpoint/2010/main" val="7171645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423cd82b643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1017B-6048-4041-9D52-3A31A57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60 dienu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D2ED-AD49-42B9-8662-11F811B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F2DD6-43B1-497A-BBBB-2F402C5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Riska signāls pēdējā datu logā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DAC87-90E3-4F16-9CAB-D6A950C8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Pilotā var parādīt ne tikai karti, bet arī datu dinamiku pa datumiem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52197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411b050c8e454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37CD-58C8-4BBE-AB23-4F4C1FD6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8A4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8A4B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E4F8E-3812-40A8-AF7B-8C41F32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redzamo šūnu 2026-09-06 ir 4. vai 5. riska līmenī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7A0B6-E065-498E-9AA7-BA9524E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4F4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4F44"/>
                </a:solidFill>
                <a:latin typeface="Arial"/>
                <a:ea typeface="Arial"/>
                <a:cs typeface="Arial"/>
              </a:rPr>
              <a:t>4.2%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70542-FEE1-4851-8F05-F27D64F7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redzamo šūnu 2026-09-06 ir 5. riska līmenī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52478-FEBF-41AA-8E90-958A3424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05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Piezīme: jaunākajā datumā SWI vēl kavējas, tāpēc rīks parāda vidēju pārliecību, nevis slēpj datu trūkumu.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882F4-88D2-4D18-BCBF-1FB6402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Datu avots: GRID_SAGATAVE/frontend/data/calendar_manifest.json</a:t>
            </a:r>
          </a:p>
        </p:txBody>
      </p:sp>
    </p:spTree>
    <p:extLst>
      <p:ext uri="{BB962C8B-B14F-4D97-AF65-F5344CB8AC3E}">
        <p14:creationId xmlns:p14="http://schemas.microsoft.com/office/powerpoint/2010/main" val="15756921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046a6e3a94f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E1AE9-AADE-46C1-89F2-5B2D73D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Pilotsaites demonstrācija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19819-5F9E-4A3B-AB13-F9D848F2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463A-4194-40FF-837F-F7710B91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Latvijas pārskata karte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5A8F6-8526-40F7-8CD4-B597C6A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Lietotājs sāk ar vienu saprotamu riska karti un datuma izvēli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f9aa25ca84dc2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47900"/>
            <a:ext cx="581025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126C8-01FB-43B3-963E-10903E42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885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4025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Augšā redzams aktīvais datums.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Datuma panelis rāda pēdējo 60 dienu logu.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Leģenda skaidro 1-5 riska līmeņus.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Klikšķis uz pašvaldības atver 1 km grid skatu.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3E7AF-0DAB-445B-91DA-4A5A8361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86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Publiskā saite: https://dboka.github.io/KIRI/</a:t>
            </a:r>
          </a:p>
        </p:txBody>
      </p:sp>
    </p:spTree>
    <p:extLst>
      <p:ext uri="{BB962C8B-B14F-4D97-AF65-F5344CB8AC3E}">
        <p14:creationId xmlns:p14="http://schemas.microsoft.com/office/powerpoint/2010/main" val="12146876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e0b75491f44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E0B45-1B31-41C6-831C-58C7D2AD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Grid detalizācija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83E94-CBCF-4B60-840D-D9EABF47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79555-11BC-480B-813E-E2FBF720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Pašvaldības 1 km grid skats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D6283-C8CE-4DC6-94BE-5B47CBBD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Klikšķis uz novada parāda, kur novada iekšienē veidojas augstais risks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2bd8c25744ae8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90750"/>
            <a:ext cx="5905500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47F3F-2F1D-429D-B414-4F56841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 demonstrēt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55258-F5D2-4586-854E-4E2C4EC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9236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Novada panelī redzams kopējais risks un augsta riska šūnu īpatsvars.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Grid šūna atver indikatorus: H-SAF SSM, P30, P90, P730 un SWI, kad tas ir pieejams.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Reason codes rāda, kāpēc teritorija nokļuvusi riska līmenī.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44E9B-2260-461E-9CBD-7D91967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Šis ir svarīgākais pilots: pašvaldība nav tikai viena krāsa, aiz tās ir pārbaudāmas šūnas.</a:t>
            </a:r>
          </a:p>
        </p:txBody>
      </p:sp>
    </p:spTree>
    <p:extLst>
      <p:ext uri="{BB962C8B-B14F-4D97-AF65-F5344CB8AC3E}">
        <p14:creationId xmlns:p14="http://schemas.microsoft.com/office/powerpoint/2010/main" val="9626297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a3b924fcd4b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16D9B-48E5-49E5-849F-705D5BDE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Riska algoritms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919D3-12AB-42FB-8C42-2FA3002A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5C856-D12C-4052-A11F-D439F786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Pašreizējais riska aprēķins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3555E-7232-4DDA-8915-558BAE76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v0.1.3 dod skaidrojamu risku, bet sliekšņi vēl jāvalidē pret vēsturi un stacijām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23AA5-6B8F-4E1E-9987-55D0DDAC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5616A-FB0A-41DB-95E3-017819FB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Indikatori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E2DA7-B1C2-42BA-AC86-D55B329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P30, P90, P730, H-SAF SSM un Copernicus SWI tiek pārvērsti 1-5 riska līmenī.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E1F60-3384-4122-913F-4193A065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01E16-2A76-427F-A26B-391DF4A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Kombinācija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27862-9586-4107-9186-8215FD2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Konfigurācijā izmantota moisture-first pieeja ar vismaz trīs aktīviem indikatoriem.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884AA-E730-496B-BD9B-4E758C31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E9494-D5F4-4DA1-ADD3-3BE1705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Skaidrojums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EE598-20DB-455C-AD22-862D8858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Katram riskam līdzi nāk aktīvie iemesli, konteksts un pārliecības līmenis.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470B0-6E92-48AB-A0E3-7708C64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Svarīgi sapulcei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9E067-1AD6-4F53-A685-A5EFE526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09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Pilotā šobrīd ir tehniski strādājošs aprēķins. ZM, LVĢMC un LBTU sarunā jāvienojas, kā robežvērtības zinātniski nostiprināt Latvijas apstākļiem.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3F950-BDF3-484E-9607-7D17786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Koda avots: GRID_SAGATAVE/config/normalization_v01.yaml</a:t>
            </a:r>
          </a:p>
        </p:txBody>
      </p:sp>
    </p:spTree>
    <p:extLst>
      <p:ext uri="{BB962C8B-B14F-4D97-AF65-F5344CB8AC3E}">
        <p14:creationId xmlns:p14="http://schemas.microsoft.com/office/powerpoint/2010/main" val="18036265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0673143ff46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8C0E9-0E6D-4597-85D9-E3456B8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Validācija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5A4FA-C17D-4250-B9C6-AFF6DED5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254B0-2538-49A1-842D-5E639CD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Kā pierādīt satelītdatu kvalitāti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C0D88-551C-4AD5-B5A2-3121B0FE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2.3, 3.1 un 3.2 prasa salīdzinājumu ar novērojumiem un vēsturisko fonu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6E29C-B4AA-4832-A4AD-C8FCC317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Stacija pret gridu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7C86D-D64C-4E22-BBC1-EB815E0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Vēsturiskā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AECE1-95FC-411D-A2AE-F624F400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Robežvērtības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0E3E5-8ECE-4EB2-A7A4-BCEE5CA8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9702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Tuvākā grid šūna vai 3x3 šūnu logs ap staciju.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SSM/SWI salīdzinājums ar augsnes mitrumu un temperatūru.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Kvalitātes pazīmes pie katra datuma.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F00BA-0859-489E-86DD-88A98B0B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28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Sezona un reģions jāņem vērā.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P30/P90/P730 var pārvērst percentilēs.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SWI un H-SAF jāvērtē pret vairāku gadu fonu.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5E310-5F81-4116-9C25-8F87356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095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Pārmitra un sasalusi augsne jādefinē atsevišķi.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Juridiskais hard-stop jāglabā atsevišķi no hidroloģiskā riska.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LBTU dati palīdz pārbaudīt N/P zudumu epizodes.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1D7D8-7643-4DEE-A621-601BFA4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Rezultāts: metodika, kas ir izskaidrojama arī tad, ja dati kavējas vai viens avots uz konkrētu dienu nav pieejams.</a:t>
            </a:r>
          </a:p>
        </p:txBody>
      </p:sp>
    </p:spTree>
    <p:extLst>
      <p:ext uri="{BB962C8B-B14F-4D97-AF65-F5344CB8AC3E}">
        <p14:creationId xmlns:p14="http://schemas.microsoft.com/office/powerpoint/2010/main" val="2058426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44ffbb0d644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AD016-EB90-42FB-8350-FCCE618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Demonstrācijas teksts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BDE6B-A556-4BBB-A32D-E179FF0B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E3588-9467-47BE-A83B-0348094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 tieši parādīt ZM sapulcē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660D-BF01-40A3-B510-D0A2483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Īsa demonstrācijas secība, ja būs jārunā un jārāda saite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25CA-564C-42EE-9377-57335FB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CB926-EDA8-443B-88B4-270732F3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Atvērt saiti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17D0A-2832-47A6-AA2D-34504E4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https://dboka.github.io/KIRI/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9365D-A420-4810-AA80-A1C4CF3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98593-A9E8-438B-BC53-2AD9DB08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Parādīt datumu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E71AF-4817-40F2-AB30-351950B1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60 dienu kalendārs, jaunākais datums un SWI kavēšanās atzīme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4D68C-002F-498D-B237-2D82B64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6F9D5-775C-4712-88B3-CAC63834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Klikšķināt uz novada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112D8-9549-40FB-9646-667A542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Pašvaldības risku nomaina 1 km grid detalizācija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91194-30EB-44F0-BFA9-82AB0256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5DF52-87EB-48D5-BEEC-86659DA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Klikšķināt uz šūnas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96DF8-8494-4454-A4CB-F57D6779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Parādās indikatori, reason codes un rekomendācija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7CD0C-CECF-4829-B0E2-30E00E21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B1585-C9C1-4ACA-BBF9-8FD2FF1D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Noslēgt ar metodiku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F3C07-D21F-4879-85C2-7942DD1C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Ko vajag saskaņot, lai pilots kļūst par oficiālu rīku</a:t>
            </a:r>
          </a:p>
        </p:txBody>
      </p:sp>
    </p:spTree>
    <p:extLst>
      <p:ext uri="{BB962C8B-B14F-4D97-AF65-F5344CB8AC3E}">
        <p14:creationId xmlns:p14="http://schemas.microsoft.com/office/powerpoint/2010/main" val="21378673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a7d6974934d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DCD1B-E769-4F22-864F-B9B5DD17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Nākamie lēmumi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41E99-8500-45FF-BE9E-ECC7F291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D7175-BA9B-476C-B4F3-81AA6FE8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Jautājumi, kurus vajag nofiksēt ar ZM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06877-E046-4B45-81D4-99969699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Pēc demonstrācijas vajadzīgs kopīgs metodikas un datu piekļuves rāmis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BE10D-7130-4CB9-B936-C12607EA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Kuras robežvērtības ZM vēlas redzēt kā metodiski apstiprināmas pirmajā posmā.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 piekļūt un izmantot 10 LVĢMC augsnes mitruma un temperatūras staciju datus validācijai.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Kuri normatīvie hard-stop noteikumi jāievieš kā atsevišķs konfigurējams slānis.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Kāds ir minimālais pilots, ko var demonstrēt nākamajā projekta starpposmā.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 sadalīt lomas starp LVĢMC, ZM un LBTU sliekšņu validācijai un N/P riska pārbaudei.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8E927-1AFF-4E77-9315-952705F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702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Mans ieteikums sapulces noslēgumam: vienoties par datu validācijas protokolu un robežvērtību darba grupu.</a:t>
            </a:r>
          </a:p>
        </p:txBody>
      </p:sp>
    </p:spTree>
    <p:extLst>
      <p:ext uri="{BB962C8B-B14F-4D97-AF65-F5344CB8AC3E}">
        <p14:creationId xmlns:p14="http://schemas.microsoft.com/office/powerpoint/2010/main" val="59282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2026-09-07T08:17:13.7260000Z</dcterms:created>
  <dcterms:modified xsi:type="dcterms:W3CDTF">2026-09-07T08:17:13.7260000Z</dcterms:modified>
</coreProperties>
</file>